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</p:sldIdLst>
  <p:sldSz cy="13716000" cx="24377900"/>
  <p:notesSz cx="6858000" cy="9144000"/>
  <p:embeddedFontLst>
    <p:embeddedFont>
      <p:font typeface="Inter"/>
      <p:regular r:id="rId126"/>
      <p:bold r:id="rId127"/>
      <p:italic r:id="rId128"/>
      <p:boldItalic r:id="rId129"/>
    </p:embeddedFont>
    <p:embeddedFont>
      <p:font typeface="Inter Medium"/>
      <p:regular r:id="rId130"/>
      <p:bold r:id="rId131"/>
      <p:italic r:id="rId132"/>
      <p:boldItalic r:id="rId133"/>
    </p:embeddedFont>
    <p:embeddedFont>
      <p:font typeface="JetBrains Mono"/>
      <p:regular r:id="rId134"/>
      <p:bold r:id="rId135"/>
      <p:italic r:id="rId136"/>
      <p:boldItalic r:id="rId137"/>
    </p:embeddedFont>
    <p:embeddedFont>
      <p:font typeface="Open Sans"/>
      <p:regular r:id="rId138"/>
      <p:bold r:id="rId139"/>
      <p:italic r:id="rId140"/>
      <p:boldItalic r:id="rId1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4" name="Saul Lipchik"/>
  <p:cmAuthor clrIdx="1" id="1" initials="" lastIdx="1" name="Dmitry Pogrebno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186636-BD3D-4CD2-8905-DB70D609EE90}">
  <a:tblStyle styleId="{F3186636-BD3D-4CD2-8905-DB70D609EE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font" Target="fonts/Inter-boldItalic.fntdata"/><Relationship Id="rId128" Type="http://schemas.openxmlformats.org/officeDocument/2006/relationships/font" Target="fonts/Inter-italic.fntdata"/><Relationship Id="rId127" Type="http://schemas.openxmlformats.org/officeDocument/2006/relationships/font" Target="fonts/Inter-bold.fntdata"/><Relationship Id="rId126" Type="http://schemas.openxmlformats.org/officeDocument/2006/relationships/font" Target="fonts/Inter-regular.fntdata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41" Type="http://schemas.openxmlformats.org/officeDocument/2006/relationships/font" Target="fonts/OpenSans-boldItalic.fntdata"/><Relationship Id="rId140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OpenSans-bold.fntdata"/><Relationship Id="rId138" Type="http://schemas.openxmlformats.org/officeDocument/2006/relationships/font" Target="fonts/OpenSans-regular.fntdata"/><Relationship Id="rId137" Type="http://schemas.openxmlformats.org/officeDocument/2006/relationships/font" Target="fonts/JetBrainsMono-boldItalic.fntdata"/><Relationship Id="rId132" Type="http://schemas.openxmlformats.org/officeDocument/2006/relationships/font" Target="fonts/InterMedium-italic.fntdata"/><Relationship Id="rId131" Type="http://schemas.openxmlformats.org/officeDocument/2006/relationships/font" Target="fonts/InterMedium-bold.fntdata"/><Relationship Id="rId130" Type="http://schemas.openxmlformats.org/officeDocument/2006/relationships/font" Target="fonts/InterMedium-regular.fntdata"/><Relationship Id="rId136" Type="http://schemas.openxmlformats.org/officeDocument/2006/relationships/font" Target="fonts/JetBrainsMono-italic.fntdata"/><Relationship Id="rId135" Type="http://schemas.openxmlformats.org/officeDocument/2006/relationships/font" Target="fonts/JetBrainsMono-bold.fntdata"/><Relationship Id="rId134" Type="http://schemas.openxmlformats.org/officeDocument/2006/relationships/font" Target="fonts/JetBrainsMono-regular.fntdata"/><Relationship Id="rId133" Type="http://schemas.openxmlformats.org/officeDocument/2006/relationships/font" Target="fonts/InterMedium-boldItalic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9-04T15:06:48.619">
    <p:pos x="691" y="1918"/>
    <p:text>The repetition of "code" isn't ideal IMO and I think we could rephrase this so it sounds more natural. Would the following work? 
*Enables you to run custom code at specific points in your program*</p:text>
  </p:cm>
  <p:cm authorId="1" idx="1" dt="2024-09-04T14:50:32.157">
    <p:pos x="691" y="1918"/>
    <p:text>Here is "event" and "specific code" is main parts. And "program" also not the best replacement for second code.  Can't find better wording for this thing</p:text>
  </p:cm>
  <p:cm authorId="0" idx="2" dt="2024-09-04T15:06:48.619">
    <p:pos x="691" y="1918"/>
    <p:text>Alright. Thanks for the feedback. I suppose the repetition of "code" might be unavoidable. At the very least, I would say we need to add "you" after "Allows", otherwise it doesn't sound natural to me, so:
*Allows you to execute specific code on certain events in your code*
Another idea maybe if it works:
*Enables the execution of custom code on specific events in your code*
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9-04T11:12:56.207">
    <p:pos x="691" y="2732"/>
    <p:text>As with a previous slide, I would use the plural form for "bugs". I also wouldn't use the question mark in this case, so:
*How to find bugs with other tools*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9-04T11:13:23.160">
    <p:pos x="691" y="483"/>
    <p:text>Formatted?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9-04T11:13:48.651">
    <p:pos x="691" y="2732"/>
    <p:text>I wouldn't use title case here, so:
*Ruby interactive console*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4-09-04T11:19:37.718">
    <p:pos x="691" y="483"/>
    <p:text>Lower case "c" for "Console", so:
*IRB console*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09-04T11:20:02.746">
    <p:pos x="691" y="2732"/>
    <p:text>Lowercase "d" for "debugger", so:
*RubyMine debugger message protocol*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4-09-04T11:20:23.753">
    <p:pos x="691" y="483"/>
    <p:text>*RubyMine debugger message protocol*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09-04T11:24:52.603">
    <p:pos x="691" y="483"/>
    <p:text>Lowercase "b" for "Breakpoint", and I also think I'd use plural, so:
*Logging breakpoints*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4-09-04T11:47:48.838">
    <p:pos x="3422" y="7522"/>
    <p:text>I think we hyphenate "right-click":
*Shift + Right-click on gutter*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09-04T11:26:38.924">
    <p:pos x="9297" y="6070"/>
    <p:text>I would update this either to:
*Try the RubyMine debugger*
or maybe:
*Try debugging with RubyMine*</p:text>
  </p:cm>
  <p:cm authorId="0" idx="12" dt="2024-09-04T11:25:44.802">
    <p:pos x="691" y="5944"/>
    <p:text>We need to add "with" before "me", so:
*Connect with me at linkedin....*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4-09-04T11:27:44.983">
    <p:pos x="1574" y="6647"/>
    <p:text>Here, too, I would update this to:
*Try the RubyMine debugger with a free 30-day trial*
or maybe:
*Try RubyMine debugging with a free 30-day trial*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4-09-04T11:28:01.757">
    <p:pos x="1574" y="6647"/>
    <p:text>Same comment/suggestion as previous slides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6ec12dbb5_0_9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6ec12dbb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05aacc3c1_0_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05aacc3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05aacc3c1_0_6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f05aacc3c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05aacc3c1_0_7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05aacc3c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05aacc3c1_0_8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05aacc3c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05aacc3c1_0_8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05aacc3c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05aacc3c1_0_9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05aacc3c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fbd8e8ac4_0_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fbd8e8a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fbd8e8ac4_0_3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fbd8e8ac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fbd8e8ac4_0_3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efbd8e8ac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fbd8e8ac4_0_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fbd8e8ac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fbd8e8ac4_0_129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efbd8e8ac4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05aacc3c1_0_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f05aacc3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05aacc3c1_0_3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05aacc3c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05aacc3c1_0_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05aacc3c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f05aacc3c1_0_3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f05aacc3c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4573ceb73_0_3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f4573ceb7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f4573ceb73_0_3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f4573ceb7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to strive to make it even better to increase productivity of our work and get things done with less resources.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05aacc3c1_0_10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05aacc3c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efbd8e8ac4_0_9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efbd8e8ac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efbd8e8ac4_0_10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efbd8e8ac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fbd8e8ac4_0_1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efbd8e8ac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efbd8e8ac4_0_1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efbd8e8ac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efbd8e8ac4_0_12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efbd8e8ac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fbd8e8ac4_0_13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fbd8e8ac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fbd8e8ac4_0_13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fbd8e8ac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fbd8e8ac4_0_14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fbd8e8ac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efbd8e8ac4_0_1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efbd8e8ac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fbd8e8ac4_0_1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efbd8e8ac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efbd8e8ac4_0_16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efbd8e8ac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Using Instruction Sequence, you can modify bytecode and adjust the behaviour of your program without touching the source code in Ruby.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efbd8e8ac4_0_1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efbd8e8ac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efbd8e8ac4_0_17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efbd8e8ac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efbd8e8ac4_0_18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efbd8e8ac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fbd8e8ac4_0_17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efbd8e8ac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05aacc3c1_0_1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f05aacc3c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efbd8e8ac4_0_19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efbd8e8ac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efbd8e8ac4_0_126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efbd8e8ac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fbd8e8ac4_0_127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fbd8e8ac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fbd8e8ac4_0_127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efbd8e8ac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efbd8e8ac4_0_128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efbd8e8ac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efbd8e8ac4_0_2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efbd8e8ac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efbd8e8ac4_0_21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efbd8e8ac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efbd8e8ac4_0_2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efbd8e8ac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efbd8e8ac4_0_23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efbd8e8ac4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efbd8e8ac4_0_24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efbd8e8ac4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efbd8e8ac4_0_2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efbd8e8ac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efbd8e8ac4_0_26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efbd8e8ac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35a4c2c81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f35a4c2c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efbd8e8ac4_0_27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efbd8e8ac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efbd8e8ac4_0_2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efbd8e8ac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efbd8e8ac4_0_29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efbd8e8ac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efbd8e8ac4_0_29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efbd8e8ac4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efbd8e8ac4_0_31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efbd8e8ac4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efbd8e8ac4_0_32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efbd8e8ac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efbd8e8ac4_0_3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efbd8e8ac4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efbd8e8ac4_0_33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efbd8e8ac4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efbd8e8ac4_0_33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efbd8e8ac4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efbd8e8ac4_0_33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efbd8e8ac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efbd8e8ac4_0_34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efbd8e8ac4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efbd8e8ac4_0_36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efbd8e8ac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efbd8e8ac4_0_36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efbd8e8ac4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efbd8e8ac4_0_37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2efbd8e8ac4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efbd8e8ac4_0_37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efbd8e8ac4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efbd8e8ac4_0_38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efbd8e8ac4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efbd8e8ac4_0_3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efbd8e8ac4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is responsible for iseqs, frames and context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retrieving.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efbd8e8ac4_0_39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efbd8e8ac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efbd8e8ac4_0_39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efbd8e8ac4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efbd8e8ac4_0_40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efbd8e8ac4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efbd8e8ac4_0_4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efbd8e8ac4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efbd8e8ac4_0_41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efbd8e8ac4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efbd8e8ac4_0_42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efbd8e8ac4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efbd8e8ac4_0_146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efbd8e8ac4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efbd8e8ac4_0_157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efbd8e8ac4_0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efbd8e8ac4_0_155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efbd8e8ac4_0_1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efbd8e8ac4_0_153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efbd8e8ac4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efbd8e8ac4_0_148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efbd8e8ac4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f05aacc3c1_0_12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f05aacc3c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efbd8e8ac4_0_50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efbd8e8ac4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efbd8e8ac4_0_50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efbd8e8ac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efbd8e8ac4_0_5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efbd8e8ac4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f35a4c2c81_0_8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f35a4c2c8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f35a4c2c81_0_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f35a4c2c8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f35a4c2c81_0_9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f35a4c2c8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insert or delete rows or columns, right-click the table.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Line thickness is 2 px. Text alignment is centered.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f05aacc3c1_0_12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f05aacc3c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f05aacc3c1_0_1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f05aacc3c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f4573ceb73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f4573ce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f4573ceb73_0_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f4573ceb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f4573ceb73_0_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f4573ceb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f4573ceb73_0_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f4573ceb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f4573ceb73_0_2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f4573ceb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f4573ceb73_0_2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f4573ceb7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f35a4c2c81_0_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f35a4c2c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efbd8e8ac4_0_61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efbd8e8ac4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efbd8e8ac4_0_6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efbd8e8ac4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efbd8e8ac4_0_82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efbd8e8ac4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efbd8e8ac4_0_82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efbd8e8ac4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efbd8e8ac4_0_83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efbd8e8ac4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recap, firstly I would like to …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efbd8e8ac4_0_84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efbd8e8ac4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efbd8e8ac4_0_85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efbd8e8ac4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efbd8e8ac4_0_86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efbd8e8ac4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f35a4c2c81_0_10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f35a4c2c8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efbd8e8ac4_0_4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efbd8e8ac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slide is intended to draw attention to the speaker’s words and not distract the audience with detailed reading material.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efbd8e8ac4_0_4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efbd8e8ac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efbd8e8ac4_0_4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efbd8e8ac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fbd8e8ac4_0_5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fbd8e8ac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slide is intended to draw attention to the speaker’s words and not distract the audience with detailed reading material.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efbd8e8ac4_0_5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efbd8e8ac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efbd8e8ac4_0_6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efbd8e8ac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efbd8e8ac4_0_45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efbd8e8ac4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slide is intended to draw attention to the speaker’s words and not distract the audience with detailed reading material.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efbd8e8ac4_0_46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efbd8e8ac4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efbd8e8ac4_0_47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efbd8e8ac4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fbd8e8ac4_0_47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fbd8e8ac4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efbd8e8ac4_0_48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efbd8e8ac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efbd8e8ac4_0_57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efbd8e8ac4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efbd8e8ac4_0_58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efbd8e8ac4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efbd8e8ac4_0_5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efbd8e8ac4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efbd8e8ac4_0_59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efbd8e8ac4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Picture with header and text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slide that’s ideal for including picture with caption or brief descriptive statement.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place the picture on this slide (this applies to all slides in this template that contain picture placeholders):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Click the white circle in the middle of the picture placeholder and select the insert option that best suits your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 to reposition the picture within the placeholder: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Right-click the picture placeholder, select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 image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Click and drag the picture within the placeholder to reposition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scale the picture within the placeholder (while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Crop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active), grab a corner handle and drag it.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speaker's points, using imagery and text that reinforce the speaker’s point.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f05aacc3c1_0_59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f05aacc3c1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 a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Closing slide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that is ideal for ending your presentation.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f35a4c2c81_0_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f35a4c2c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speaker’s points using text that reinforce the speaker’s point.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your text does not fit in the text placeholder, consider breaking it into 2 slides or choosing a layout with 2 or 3 columns.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f35a4c2c81_0_6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f35a4c2c8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keep the template design consistent, please paste text from another source using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without formatting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(right-click or menu </a:t>
            </a: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take note that presentations are intended to help the audience focus on the speaker’s words rather than distract them with detailed reading material.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slide should use only a handful of words to reiterate the speaker’s points using text that reinforce the speaker’s point.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inserting so much text that you have to decrease the font size.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your text does not fit in the text placeholder, consider breaking it into 2 slides or choosing a layout with 2 or 3 columns.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le slide">
  <p:cSld name="CUSTOM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1096992" y="1170432"/>
            <a:ext cx="9417600" cy="2341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096992" y="3364233"/>
            <a:ext cx="18426300" cy="54384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1096992" y="9436600"/>
            <a:ext cx="146475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itle slide with a background">
  <p:cSld name="CUSTOM_2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0" y="0"/>
            <a:ext cx="24378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1096992" y="3364233"/>
            <a:ext cx="18426300" cy="54384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0"/>
              <a:buNone/>
              <a:defRPr sz="12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096992" y="9436600"/>
            <a:ext cx="146475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1pPr>
            <a:lvl2pPr indent="-463550" lvl="1" marL="914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2pPr>
            <a:lvl3pPr indent="-463550" lvl="2" marL="1371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3pPr>
            <a:lvl4pPr indent="-463550" lvl="3" marL="1828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4pPr>
            <a:lvl5pPr indent="-463550" lvl="4" marL="22860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5pPr>
            <a:lvl6pPr indent="-463550" lvl="5" marL="27432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6pPr>
            <a:lvl7pPr indent="-463550" lvl="6" marL="3200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7pPr>
            <a:lvl8pPr indent="-463550" lvl="7" marL="3657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8pPr>
            <a:lvl9pPr indent="-463550" lvl="8" marL="4114800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Title slide with a background and a photo">
  <p:cSld name="CUSTOM_2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0" y="0"/>
            <a:ext cx="24378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096992" y="3364233"/>
            <a:ext cx="18426300" cy="54384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0"/>
              <a:buNone/>
              <a:defRPr sz="12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" name="Google Shape;20;p4"/>
          <p:cNvSpPr/>
          <p:nvPr>
            <p:ph idx="3" type="pic"/>
          </p:nvPr>
        </p:nvSpPr>
        <p:spPr>
          <a:xfrm>
            <a:off x="16333179" y="0"/>
            <a:ext cx="80448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096992" y="9436600"/>
            <a:ext cx="146475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1pPr>
            <a:lvl2pPr indent="-463550" lvl="1" marL="914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2pPr>
            <a:lvl3pPr indent="-463550" lvl="2" marL="1371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3pPr>
            <a:lvl4pPr indent="-463550" lvl="3" marL="1828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4pPr>
            <a:lvl5pPr indent="-463550" lvl="4" marL="22860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5pPr>
            <a:lvl6pPr indent="-463550" lvl="5" marL="27432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6pPr>
            <a:lvl7pPr indent="-463550" lvl="6" marL="3200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●"/>
              <a:defRPr>
                <a:solidFill>
                  <a:schemeClr val="lt1"/>
                </a:solidFill>
              </a:defRPr>
            </a:lvl7pPr>
            <a:lvl8pPr indent="-463550" lvl="7" marL="3657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700"/>
              <a:buChar char="○"/>
              <a:defRPr>
                <a:solidFill>
                  <a:schemeClr val="lt1"/>
                </a:solidFill>
              </a:defRPr>
            </a:lvl8pPr>
            <a:lvl9pPr indent="-463550" lvl="8" marL="4114800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3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Section header">
  <p:cSld name="CUSTOM_3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096992" y="9436600"/>
            <a:ext cx="146475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1096992" y="3730764"/>
            <a:ext cx="18399000" cy="5072100"/>
          </a:xfrm>
          <a:prstGeom prst="rect">
            <a:avLst/>
          </a:prstGeom>
        </p:spPr>
        <p:txBody>
          <a:bodyPr anchorCtr="0" anchor="b" bIns="26815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de">
  <p:cSld name="CUSTOM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1096992" y="4998733"/>
            <a:ext cx="222045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2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Lots of code">
  <p:cSld name="CUSTOM_4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1096992" y="768096"/>
            <a:ext cx="221841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1097005" y="3730767"/>
            <a:ext cx="22198800" cy="7607700"/>
          </a:xfrm>
          <a:prstGeom prst="rect">
            <a:avLst/>
          </a:prstGeom>
        </p:spPr>
        <p:txBody>
          <a:bodyPr anchorCtr="0" anchor="t" bIns="0" lIns="0" spcFirstLastPara="1" rIns="0" wrap="square" tIns="390075">
            <a:noAutofit/>
          </a:bodyPr>
          <a:lstStyle>
            <a:lvl1pPr indent="-361950" lvl="0" marL="457200" rtl="0">
              <a:spcBef>
                <a:spcPts val="0"/>
              </a:spcBef>
              <a:spcAft>
                <a:spcPts val="0"/>
              </a:spcAft>
              <a:buSzPts val="2100"/>
              <a:buFont typeface="JetBrains Mono"/>
              <a:buChar char="●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61950" lvl="1" marL="9144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○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61950" lvl="2" marL="13716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■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61950" lvl="3" marL="18288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●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61950" lvl="4" marL="22860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○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61950" lvl="5" marL="27432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■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61950" lvl="6" marL="32004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●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61950" lvl="7" marL="3657600" rtl="0">
              <a:spcBef>
                <a:spcPts val="1600"/>
              </a:spcBef>
              <a:spcAft>
                <a:spcPts val="0"/>
              </a:spcAft>
              <a:buSzPts val="2100"/>
              <a:buFont typeface="JetBrains Mono"/>
              <a:buChar char="○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61950" lvl="8" marL="4114800" rtl="0">
              <a:spcBef>
                <a:spcPts val="1600"/>
              </a:spcBef>
              <a:spcAft>
                <a:spcPts val="1600"/>
              </a:spcAft>
              <a:buSzPts val="2100"/>
              <a:buFont typeface="JetBrains Mono"/>
              <a:buChar char="■"/>
              <a:defRPr sz="21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Main point">
  <p:cSld name="CUSTOM_5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 Question &amp; answer">
  <p:cSld name="CUSTOM_6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097005" y="1901952"/>
            <a:ext cx="14647500" cy="49896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2" type="title"/>
          </p:nvPr>
        </p:nvSpPr>
        <p:spPr>
          <a:xfrm>
            <a:off x="8633306" y="6954500"/>
            <a:ext cx="14647500" cy="43839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88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and header">
  <p:cSld name="CUSTOM_7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096992" y="4998720"/>
            <a:ext cx="22204500" cy="638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Text slide">
  <p:cSld name="CUSTOM_7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1096992" y="1828800"/>
            <a:ext cx="22204500" cy="95097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Bulleted list">
  <p:cSld name="CUSTOM_8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1096992" y="4998733"/>
            <a:ext cx="222045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2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Numbered list">
  <p:cSld name="CUSTOM_9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1096992" y="4998733"/>
            <a:ext cx="22204500" cy="6339900"/>
          </a:xfrm>
          <a:prstGeom prst="rect">
            <a:avLst/>
          </a:prstGeom>
        </p:spPr>
        <p:txBody>
          <a:bodyPr anchorCtr="0" anchor="t" bIns="0" lIns="365675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2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. Two columns with text">
  <p:cSld name="CUSTOM_10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1096992" y="4998733"/>
            <a:ext cx="108690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2" type="body"/>
          </p:nvPr>
        </p:nvSpPr>
        <p:spPr>
          <a:xfrm>
            <a:off x="12432722" y="4998733"/>
            <a:ext cx="108690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3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Two columns with a bulleted list">
  <p:cSld name="CUSTOM_1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096992" y="4998733"/>
            <a:ext cx="108690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2" type="body"/>
          </p:nvPr>
        </p:nvSpPr>
        <p:spPr>
          <a:xfrm>
            <a:off x="12432722" y="4998733"/>
            <a:ext cx="108690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3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. Two columns with headers">
  <p:cSld name="CUSTOM_1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097006" y="4998720"/>
            <a:ext cx="108690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12453431" y="4998720"/>
            <a:ext cx="108690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65" name="Google Shape;65;p16"/>
          <p:cNvSpPr txBox="1"/>
          <p:nvPr>
            <p:ph idx="3" type="body"/>
          </p:nvPr>
        </p:nvSpPr>
        <p:spPr>
          <a:xfrm>
            <a:off x="1096992" y="5639867"/>
            <a:ext cx="10869000" cy="569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4" type="body"/>
          </p:nvPr>
        </p:nvSpPr>
        <p:spPr>
          <a:xfrm>
            <a:off x="12453417" y="5639867"/>
            <a:ext cx="10869000" cy="569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5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Two columns with icons">
  <p:cSld name="CUSTOM_1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1076297" y="8168633"/>
            <a:ext cx="10869000" cy="3170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12432722" y="8168633"/>
            <a:ext cx="10869000" cy="3170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72" name="Google Shape;72;p17"/>
          <p:cNvSpPr/>
          <p:nvPr>
            <p:ph idx="3" type="pic"/>
          </p:nvPr>
        </p:nvSpPr>
        <p:spPr>
          <a:xfrm>
            <a:off x="1076297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/>
          <p:nvPr>
            <p:ph idx="4" type="pic"/>
          </p:nvPr>
        </p:nvSpPr>
        <p:spPr>
          <a:xfrm>
            <a:off x="12432722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/>
          <p:nvPr>
            <p:ph idx="5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Two columns with icons and headers">
  <p:cSld name="CUSTOM_13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77" name="Google Shape;77;p18"/>
          <p:cNvSpPr/>
          <p:nvPr>
            <p:ph idx="2" type="pic"/>
          </p:nvPr>
        </p:nvSpPr>
        <p:spPr>
          <a:xfrm>
            <a:off x="1076297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8"/>
          <p:cNvSpPr/>
          <p:nvPr>
            <p:ph idx="3" type="pic"/>
          </p:nvPr>
        </p:nvSpPr>
        <p:spPr>
          <a:xfrm>
            <a:off x="12432722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1076297" y="8168640"/>
            <a:ext cx="108690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80" name="Google Shape;80;p18"/>
          <p:cNvSpPr txBox="1"/>
          <p:nvPr>
            <p:ph idx="4" type="body"/>
          </p:nvPr>
        </p:nvSpPr>
        <p:spPr>
          <a:xfrm>
            <a:off x="12432722" y="8168640"/>
            <a:ext cx="108690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81" name="Google Shape;81;p18"/>
          <p:cNvSpPr txBox="1"/>
          <p:nvPr>
            <p:ph idx="5" type="body"/>
          </p:nvPr>
        </p:nvSpPr>
        <p:spPr>
          <a:xfrm>
            <a:off x="1076297" y="8809767"/>
            <a:ext cx="10869000" cy="25287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6" type="body"/>
          </p:nvPr>
        </p:nvSpPr>
        <p:spPr>
          <a:xfrm>
            <a:off x="12432722" y="8809767"/>
            <a:ext cx="10869000" cy="25287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7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. Three columns with text">
  <p:cSld name="CUSTOM_1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1096992" y="4998733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8654101" y="4998733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3" type="body"/>
          </p:nvPr>
        </p:nvSpPr>
        <p:spPr>
          <a:xfrm>
            <a:off x="16232005" y="4998733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4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Three columns with a bulleted list">
  <p:cSld name="CUSTOM_1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1096992" y="4998732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8654101" y="4998732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3" type="body"/>
          </p:nvPr>
        </p:nvSpPr>
        <p:spPr>
          <a:xfrm>
            <a:off x="16232005" y="4998732"/>
            <a:ext cx="7090200" cy="633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4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. Three columns with headers">
  <p:cSld name="CUSTOM_15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1097006" y="499872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1096992" y="5639865"/>
            <a:ext cx="7090200" cy="569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3" type="body"/>
          </p:nvPr>
        </p:nvSpPr>
        <p:spPr>
          <a:xfrm>
            <a:off x="8681023" y="499872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101" name="Google Shape;101;p21"/>
          <p:cNvSpPr txBox="1"/>
          <p:nvPr>
            <p:ph idx="4" type="body"/>
          </p:nvPr>
        </p:nvSpPr>
        <p:spPr>
          <a:xfrm>
            <a:off x="8681008" y="5639865"/>
            <a:ext cx="7090200" cy="569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5" type="body"/>
          </p:nvPr>
        </p:nvSpPr>
        <p:spPr>
          <a:xfrm>
            <a:off x="16232019" y="499872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103" name="Google Shape;103;p21"/>
          <p:cNvSpPr txBox="1"/>
          <p:nvPr>
            <p:ph idx="6" type="body"/>
          </p:nvPr>
        </p:nvSpPr>
        <p:spPr>
          <a:xfrm>
            <a:off x="16232005" y="5639865"/>
            <a:ext cx="7090200" cy="5698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7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. Three columns with icons">
  <p:cSld name="CUSTOM_16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1076297" y="8168640"/>
            <a:ext cx="7090200" cy="32103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76297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3" type="body"/>
          </p:nvPr>
        </p:nvSpPr>
        <p:spPr>
          <a:xfrm>
            <a:off x="8633406" y="8168640"/>
            <a:ext cx="7090200" cy="32103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4" type="pic"/>
          </p:nvPr>
        </p:nvSpPr>
        <p:spPr>
          <a:xfrm>
            <a:off x="8633406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/>
          <p:nvPr>
            <p:ph idx="5" type="body"/>
          </p:nvPr>
        </p:nvSpPr>
        <p:spPr>
          <a:xfrm>
            <a:off x="16211310" y="8168640"/>
            <a:ext cx="7090200" cy="32103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12" name="Google Shape;112;p22"/>
          <p:cNvSpPr/>
          <p:nvPr>
            <p:ph idx="6" type="pic"/>
          </p:nvPr>
        </p:nvSpPr>
        <p:spPr>
          <a:xfrm>
            <a:off x="16211310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2"/>
          <p:cNvSpPr txBox="1"/>
          <p:nvPr>
            <p:ph idx="7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. Three columns with icons and headers">
  <p:cSld name="CUSTOM_17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1097005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2" type="pic"/>
          </p:nvPr>
        </p:nvSpPr>
        <p:spPr>
          <a:xfrm>
            <a:off x="1076297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1076297" y="816864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118" name="Google Shape;118;p23"/>
          <p:cNvSpPr txBox="1"/>
          <p:nvPr>
            <p:ph idx="3" type="body"/>
          </p:nvPr>
        </p:nvSpPr>
        <p:spPr>
          <a:xfrm>
            <a:off x="1076297" y="8802633"/>
            <a:ext cx="7090200" cy="2535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19" name="Google Shape;119;p23"/>
          <p:cNvSpPr/>
          <p:nvPr>
            <p:ph idx="4" type="pic"/>
          </p:nvPr>
        </p:nvSpPr>
        <p:spPr>
          <a:xfrm>
            <a:off x="8660314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3"/>
          <p:cNvSpPr txBox="1"/>
          <p:nvPr>
            <p:ph idx="5" type="body"/>
          </p:nvPr>
        </p:nvSpPr>
        <p:spPr>
          <a:xfrm>
            <a:off x="8660314" y="816864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121" name="Google Shape;121;p23"/>
          <p:cNvSpPr txBox="1"/>
          <p:nvPr>
            <p:ph idx="6" type="body"/>
          </p:nvPr>
        </p:nvSpPr>
        <p:spPr>
          <a:xfrm>
            <a:off x="8660314" y="8802633"/>
            <a:ext cx="7090200" cy="2535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22" name="Google Shape;122;p23"/>
          <p:cNvSpPr/>
          <p:nvPr>
            <p:ph idx="7" type="pic"/>
          </p:nvPr>
        </p:nvSpPr>
        <p:spPr>
          <a:xfrm>
            <a:off x="16217409" y="5300667"/>
            <a:ext cx="2233500" cy="223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3"/>
          <p:cNvSpPr txBox="1"/>
          <p:nvPr>
            <p:ph idx="8" type="body"/>
          </p:nvPr>
        </p:nvSpPr>
        <p:spPr>
          <a:xfrm>
            <a:off x="16217409" y="8168640"/>
            <a:ext cx="7090200" cy="878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b="1"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 b="1"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 b="1"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 b="1"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 b="1"/>
            </a:lvl9pPr>
          </a:lstStyle>
          <a:p/>
        </p:txBody>
      </p:sp>
      <p:sp>
        <p:nvSpPr>
          <p:cNvPr id="124" name="Google Shape;124;p23"/>
          <p:cNvSpPr txBox="1"/>
          <p:nvPr>
            <p:ph idx="9" type="body"/>
          </p:nvPr>
        </p:nvSpPr>
        <p:spPr>
          <a:xfrm>
            <a:off x="16217409" y="8802633"/>
            <a:ext cx="7090200" cy="2535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3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. Big number">
  <p:cSld name="CUSTOM_18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1096992" y="3096767"/>
            <a:ext cx="221841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923959" y="8168767"/>
            <a:ext cx="145791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. Two big numbers">
  <p:cSld name="CUSTOM_19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096992" y="3096767"/>
            <a:ext cx="108480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2968422" y="8168767"/>
            <a:ext cx="71295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3" type="body"/>
          </p:nvPr>
        </p:nvSpPr>
        <p:spPr>
          <a:xfrm>
            <a:off x="12432722" y="3096767"/>
            <a:ext cx="108480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4" type="body"/>
          </p:nvPr>
        </p:nvSpPr>
        <p:spPr>
          <a:xfrm>
            <a:off x="14304152" y="8168767"/>
            <a:ext cx="71295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. Three big numbers">
  <p:cSld name="CUSTOM_20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8654168" y="3096767"/>
            <a:ext cx="70695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9873721" y="8168767"/>
            <a:ext cx="46461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3" type="body"/>
          </p:nvPr>
        </p:nvSpPr>
        <p:spPr>
          <a:xfrm>
            <a:off x="1096992" y="3096767"/>
            <a:ext cx="70695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26"/>
          <p:cNvSpPr txBox="1"/>
          <p:nvPr>
            <p:ph idx="4" type="body"/>
          </p:nvPr>
        </p:nvSpPr>
        <p:spPr>
          <a:xfrm>
            <a:off x="2316546" y="8168767"/>
            <a:ext cx="46461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5" type="body"/>
          </p:nvPr>
        </p:nvSpPr>
        <p:spPr>
          <a:xfrm>
            <a:off x="16211343" y="3096767"/>
            <a:ext cx="7069500" cy="50721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rmAutofit/>
          </a:bodyPr>
          <a:lstStyle>
            <a:lvl1pPr indent="-2260600" lvl="0" marL="457200" rtl="0" algn="ctr">
              <a:spcBef>
                <a:spcPts val="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1pPr>
            <a:lvl2pPr indent="-2260600" lvl="1" marL="914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2pPr>
            <a:lvl3pPr indent="-2260600" lvl="2" marL="1371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3pPr>
            <a:lvl4pPr indent="-2260600" lvl="3" marL="18288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4pPr>
            <a:lvl5pPr indent="-2260600" lvl="4" marL="22860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5pPr>
            <a:lvl6pPr indent="-2260600" lvl="5" marL="27432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6pPr>
            <a:lvl7pPr indent="-2260600" lvl="6" marL="32004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●"/>
              <a:defRPr b="1" sz="32000">
                <a:latin typeface="Inter"/>
                <a:ea typeface="Inter"/>
                <a:cs typeface="Inter"/>
                <a:sym typeface="Inter"/>
              </a:defRPr>
            </a:lvl7pPr>
            <a:lvl8pPr indent="-2260600" lvl="7" marL="3657600" rtl="0" algn="ctr">
              <a:spcBef>
                <a:spcPts val="1600"/>
              </a:spcBef>
              <a:spcAft>
                <a:spcPts val="0"/>
              </a:spcAft>
              <a:buSzPts val="32000"/>
              <a:buFont typeface="Inter"/>
              <a:buChar char="○"/>
              <a:defRPr b="1" sz="32000">
                <a:latin typeface="Inter"/>
                <a:ea typeface="Inter"/>
                <a:cs typeface="Inter"/>
                <a:sym typeface="Inter"/>
              </a:defRPr>
            </a:lvl8pPr>
            <a:lvl9pPr indent="-2260600" lvl="8" marL="4114800" rtl="0" algn="ctr">
              <a:spcBef>
                <a:spcPts val="1600"/>
              </a:spcBef>
              <a:spcAft>
                <a:spcPts val="1600"/>
              </a:spcAft>
              <a:buSzPts val="32000"/>
              <a:buFont typeface="Inter"/>
              <a:buChar char="■"/>
              <a:defRPr b="1" sz="3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6" type="body"/>
          </p:nvPr>
        </p:nvSpPr>
        <p:spPr>
          <a:xfrm>
            <a:off x="17430897" y="8168767"/>
            <a:ext cx="4646100" cy="1902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 algn="ctr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 algn="ctr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 algn="ctr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 algn="ctr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. Screenshot slide">
  <p:cSld name="CUSTOM_2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>
            <p:ph idx="2" type="pic"/>
          </p:nvPr>
        </p:nvSpPr>
        <p:spPr>
          <a:xfrm>
            <a:off x="0" y="0"/>
            <a:ext cx="243780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. Two desktop screenshots ">
  <p:cSld name="CUSTOM_2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>
            <p:ph idx="2" type="pic"/>
          </p:nvPr>
        </p:nvSpPr>
        <p:spPr>
          <a:xfrm>
            <a:off x="1096992" y="1828800"/>
            <a:ext cx="12394500" cy="69741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8"/>
          <p:cNvSpPr/>
          <p:nvPr>
            <p:ph idx="3" type="pic"/>
          </p:nvPr>
        </p:nvSpPr>
        <p:spPr>
          <a:xfrm>
            <a:off x="10886409" y="4364733"/>
            <a:ext cx="12394500" cy="697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. Two mobile screenshots ">
  <p:cSld name="CUSTOM_2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>
            <p:ph idx="2" type="pic"/>
          </p:nvPr>
        </p:nvSpPr>
        <p:spPr>
          <a:xfrm>
            <a:off x="3169940" y="573024"/>
            <a:ext cx="7069500" cy="1257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9"/>
          <p:cNvSpPr/>
          <p:nvPr>
            <p:ph idx="3" type="pic"/>
          </p:nvPr>
        </p:nvSpPr>
        <p:spPr>
          <a:xfrm>
            <a:off x="14139182" y="573024"/>
            <a:ext cx="7069500" cy="1257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. Picture with header and text">
  <p:cSld name="CUSTOM_2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51" name="Google Shape;151;p30"/>
          <p:cNvSpPr/>
          <p:nvPr>
            <p:ph idx="2" type="pic"/>
          </p:nvPr>
        </p:nvSpPr>
        <p:spPr>
          <a:xfrm>
            <a:off x="1096992" y="3730767"/>
            <a:ext cx="108480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12432722" y="3730567"/>
            <a:ext cx="10900500" cy="7608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. Picture and text">
  <p:cSld name="CUSTOM_25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/>
          <p:nvPr>
            <p:ph idx="2" type="pic"/>
          </p:nvPr>
        </p:nvSpPr>
        <p:spPr>
          <a:xfrm>
            <a:off x="1096992" y="1828800"/>
            <a:ext cx="10848000" cy="951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12432722" y="1828567"/>
            <a:ext cx="10900500" cy="9510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. Two pictures with header">
  <p:cSld name="CUSTOM_2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1096992" y="3730767"/>
            <a:ext cx="10848000" cy="6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096992" y="10704567"/>
            <a:ext cx="108480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60" name="Google Shape;160;p32"/>
          <p:cNvSpPr/>
          <p:nvPr>
            <p:ph idx="3" type="pic"/>
          </p:nvPr>
        </p:nvSpPr>
        <p:spPr>
          <a:xfrm>
            <a:off x="12458916" y="3730767"/>
            <a:ext cx="10848000" cy="6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32"/>
          <p:cNvSpPr txBox="1"/>
          <p:nvPr>
            <p:ph idx="4" type="body"/>
          </p:nvPr>
        </p:nvSpPr>
        <p:spPr>
          <a:xfrm>
            <a:off x="12458916" y="10704567"/>
            <a:ext cx="108480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 Two pictures">
  <p:cSld name="CUSTOM_27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/>
          <p:nvPr>
            <p:ph idx="2" type="pic"/>
          </p:nvPr>
        </p:nvSpPr>
        <p:spPr>
          <a:xfrm>
            <a:off x="1096992" y="2462800"/>
            <a:ext cx="108480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1096992" y="10704567"/>
            <a:ext cx="108480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65" name="Google Shape;165;p33"/>
          <p:cNvSpPr/>
          <p:nvPr>
            <p:ph idx="3" type="pic"/>
          </p:nvPr>
        </p:nvSpPr>
        <p:spPr>
          <a:xfrm>
            <a:off x="12458916" y="2462800"/>
            <a:ext cx="108480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3"/>
          <p:cNvSpPr txBox="1"/>
          <p:nvPr>
            <p:ph idx="4" type="body"/>
          </p:nvPr>
        </p:nvSpPr>
        <p:spPr>
          <a:xfrm>
            <a:off x="12458916" y="10704567"/>
            <a:ext cx="108480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. Three pictures with headers">
  <p:cSld name="CUSTOM_28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69" name="Google Shape;169;p34"/>
          <p:cNvSpPr/>
          <p:nvPr>
            <p:ph idx="2" type="pic"/>
          </p:nvPr>
        </p:nvSpPr>
        <p:spPr>
          <a:xfrm>
            <a:off x="1096992" y="3730767"/>
            <a:ext cx="7069500" cy="6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 txBox="1"/>
          <p:nvPr>
            <p:ph idx="1" type="body"/>
          </p:nvPr>
        </p:nvSpPr>
        <p:spPr>
          <a:xfrm>
            <a:off x="1096992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71" name="Google Shape;171;p34"/>
          <p:cNvSpPr/>
          <p:nvPr>
            <p:ph idx="3" type="pic"/>
          </p:nvPr>
        </p:nvSpPr>
        <p:spPr>
          <a:xfrm>
            <a:off x="8654234" y="3730767"/>
            <a:ext cx="7069500" cy="6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idx="4" type="body"/>
          </p:nvPr>
        </p:nvSpPr>
        <p:spPr>
          <a:xfrm>
            <a:off x="8654234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5" type="pic"/>
          </p:nvPr>
        </p:nvSpPr>
        <p:spPr>
          <a:xfrm>
            <a:off x="16211477" y="3730767"/>
            <a:ext cx="7069500" cy="6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 txBox="1"/>
          <p:nvPr>
            <p:ph idx="6" type="body"/>
          </p:nvPr>
        </p:nvSpPr>
        <p:spPr>
          <a:xfrm>
            <a:off x="16211477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. Three pictures">
  <p:cSld name="CUSTOM_29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>
            <p:ph idx="2" type="pic"/>
          </p:nvPr>
        </p:nvSpPr>
        <p:spPr>
          <a:xfrm>
            <a:off x="1096992" y="2462800"/>
            <a:ext cx="70695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096992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78" name="Google Shape;178;p35"/>
          <p:cNvSpPr/>
          <p:nvPr>
            <p:ph idx="3" type="pic"/>
          </p:nvPr>
        </p:nvSpPr>
        <p:spPr>
          <a:xfrm>
            <a:off x="8654234" y="2462800"/>
            <a:ext cx="70695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5"/>
          <p:cNvSpPr txBox="1"/>
          <p:nvPr>
            <p:ph idx="4" type="body"/>
          </p:nvPr>
        </p:nvSpPr>
        <p:spPr>
          <a:xfrm>
            <a:off x="8654234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180" name="Google Shape;180;p35"/>
          <p:cNvSpPr/>
          <p:nvPr>
            <p:ph idx="5" type="pic"/>
          </p:nvPr>
        </p:nvSpPr>
        <p:spPr>
          <a:xfrm>
            <a:off x="16211477" y="2462800"/>
            <a:ext cx="70695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6" type="body"/>
          </p:nvPr>
        </p:nvSpPr>
        <p:spPr>
          <a:xfrm>
            <a:off x="16211477" y="1070456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Picture with header and caption">
  <p:cSld name="CUSTOM_30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84" name="Google Shape;184;p36"/>
          <p:cNvSpPr/>
          <p:nvPr>
            <p:ph idx="2" type="pic"/>
          </p:nvPr>
        </p:nvSpPr>
        <p:spPr>
          <a:xfrm>
            <a:off x="8654168" y="3730667"/>
            <a:ext cx="14626800" cy="7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1096992" y="3730567"/>
            <a:ext cx="7069500" cy="76080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spcBef>
                <a:spcPts val="16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spcBef>
                <a:spcPts val="16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spcBef>
                <a:spcPts val="16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spcBef>
                <a:spcPts val="1600"/>
              </a:spcBef>
              <a:spcAft>
                <a:spcPts val="16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. Closing slide">
  <p:cSld name="CUSTOM_3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/>
          </p:nvPr>
        </p:nvSpPr>
        <p:spPr>
          <a:xfrm>
            <a:off x="1096992" y="3730764"/>
            <a:ext cx="18399000" cy="5072100"/>
          </a:xfrm>
          <a:prstGeom prst="rect">
            <a:avLst/>
          </a:prstGeom>
        </p:spPr>
        <p:txBody>
          <a:bodyPr anchorCtr="0" anchor="b" bIns="26815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1096992" y="9436600"/>
            <a:ext cx="146475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63550" lvl="1" marL="914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. Header and subheader">
  <p:cSld name="CUSTOM_3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91" name="Google Shape;191;p38"/>
          <p:cNvSpPr txBox="1"/>
          <p:nvPr>
            <p:ph idx="1" type="subTitle"/>
          </p:nvPr>
        </p:nvSpPr>
        <p:spPr>
          <a:xfrm>
            <a:off x="1076297" y="3730767"/>
            <a:ext cx="22204500" cy="633900"/>
          </a:xfrm>
          <a:prstGeom prst="rect">
            <a:avLst/>
          </a:prstGeom>
        </p:spPr>
        <p:txBody>
          <a:bodyPr anchorCtr="0" anchor="t" bIns="0" lIns="0" spcFirstLastPara="1" rIns="0" wrap="square" tIns="853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Font typeface="Inter Medium"/>
              <a:buNone/>
              <a:defRPr sz="4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. Header">
  <p:cSld name="CUSTOM_3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. Blank slide">
  <p:cSld name="CUSTOM_3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7005" y="772698"/>
            <a:ext cx="22446900" cy="28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750" lIns="0" spcFirstLastPara="1" rIns="0" wrap="square" tIns="24375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Inter"/>
              <a:buNone/>
              <a:defRPr b="1" sz="8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6992" y="4364733"/>
            <a:ext cx="22446900" cy="6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025">
            <a:noAutofit/>
          </a:bodyPr>
          <a:lstStyle>
            <a:lvl1pPr indent="-463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●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635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○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4635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■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4635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●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4635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○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4635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■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4635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●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4635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"/>
              <a:buChar char="○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4635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700"/>
              <a:buFont typeface="Inter"/>
              <a:buChar char="■"/>
              <a:defRPr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1818221" y="10972800"/>
            <a:ext cx="1462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750" lIns="0" spcFirstLastPara="1" rIns="0" wrap="square" tIns="243750">
            <a:noAutofit/>
          </a:bodyPr>
          <a:lstStyle>
            <a:lvl1pPr lvl="0" algn="r">
              <a:buNone/>
              <a:defRPr sz="2700">
                <a:solidFill>
                  <a:schemeClr val="dk2"/>
                </a:solidFill>
              </a:defRPr>
            </a:lvl1pPr>
            <a:lvl2pPr lvl="1" algn="r">
              <a:buNone/>
              <a:defRPr sz="2700">
                <a:solidFill>
                  <a:schemeClr val="dk2"/>
                </a:solidFill>
              </a:defRPr>
            </a:lvl2pPr>
            <a:lvl3pPr lvl="2" algn="r">
              <a:buNone/>
              <a:defRPr sz="2700">
                <a:solidFill>
                  <a:schemeClr val="dk2"/>
                </a:solidFill>
              </a:defRPr>
            </a:lvl3pPr>
            <a:lvl4pPr lvl="3" algn="r">
              <a:buNone/>
              <a:defRPr sz="2700">
                <a:solidFill>
                  <a:schemeClr val="dk2"/>
                </a:solidFill>
              </a:defRPr>
            </a:lvl4pPr>
            <a:lvl5pPr lvl="4" algn="r">
              <a:buNone/>
              <a:defRPr sz="2700">
                <a:solidFill>
                  <a:schemeClr val="dk2"/>
                </a:solidFill>
              </a:defRPr>
            </a:lvl5pPr>
            <a:lvl6pPr lvl="5" algn="r">
              <a:buNone/>
              <a:defRPr sz="2700">
                <a:solidFill>
                  <a:schemeClr val="dk2"/>
                </a:solidFill>
              </a:defRPr>
            </a:lvl6pPr>
            <a:lvl7pPr lvl="6" algn="r">
              <a:buNone/>
              <a:defRPr sz="2700">
                <a:solidFill>
                  <a:schemeClr val="dk2"/>
                </a:solidFill>
              </a:defRPr>
            </a:lvl7pPr>
            <a:lvl8pPr lvl="7" algn="r">
              <a:buNone/>
              <a:defRPr sz="2700">
                <a:solidFill>
                  <a:schemeClr val="dk2"/>
                </a:solidFill>
              </a:defRPr>
            </a:lvl8pPr>
            <a:lvl9pPr lvl="8" algn="r">
              <a:buNone/>
              <a:defRPr sz="27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720">
          <p15:clr>
            <a:srgbClr val="EA4335"/>
          </p15:clr>
        </p15:guide>
        <p15:guide id="2" pos="680">
          <p15:clr>
            <a:srgbClr val="EA4335"/>
          </p15:clr>
        </p15:guide>
        <p15:guide id="3" pos="2678">
          <p15:clr>
            <a:srgbClr val="EA4335"/>
          </p15:clr>
        </p15:guide>
        <p15:guide id="4" pos="3082">
          <p15:clr>
            <a:srgbClr val="EA4335"/>
          </p15:clr>
        </p15:guide>
        <p15:guide id="5" pos="5080">
          <p15:clr>
            <a:srgbClr val="EA4335"/>
          </p15:clr>
        </p15:guide>
        <p15:guide id="6" pos="5478">
          <p15:clr>
            <a:srgbClr val="EA4335"/>
          </p15:clr>
        </p15:guide>
        <p15:guide id="7" pos="7476">
          <p15:clr>
            <a:srgbClr val="EA4335"/>
          </p15:clr>
        </p15:guide>
        <p15:guide id="8" pos="7880">
          <p15:clr>
            <a:srgbClr val="EA4335"/>
          </p15:clr>
        </p15:guide>
        <p15:guide id="9" pos="9878">
          <p15:clr>
            <a:srgbClr val="EA4335"/>
          </p15:clr>
        </p15:guide>
        <p15:guide id="10" pos="10276">
          <p15:clr>
            <a:srgbClr val="EA4335"/>
          </p15:clr>
        </p15:guide>
        <p15:guide id="11" pos="12275">
          <p15:clr>
            <a:srgbClr val="EA4335"/>
          </p15:clr>
        </p15:guide>
        <p15:guide id="12" pos="12678">
          <p15:clr>
            <a:srgbClr val="EA4335"/>
          </p15:clr>
        </p15:guide>
        <p15:guide id="13" pos="14676">
          <p15:clr>
            <a:srgbClr val="EA4335"/>
          </p15:clr>
        </p15:guide>
        <p15:guide id="14" orient="horz" pos="1117">
          <p15:clr>
            <a:srgbClr val="EA4335"/>
          </p15:clr>
        </p15:guide>
        <p15:guide id="15" orient="horz" pos="1521">
          <p15:clr>
            <a:srgbClr val="EA4335"/>
          </p15:clr>
        </p15:guide>
        <p15:guide id="16" orient="horz" pos="1918">
          <p15:clr>
            <a:srgbClr val="EA4335"/>
          </p15:clr>
        </p15:guide>
        <p15:guide id="17" orient="horz" pos="2321">
          <p15:clr>
            <a:srgbClr val="EA4335"/>
          </p15:clr>
        </p15:guide>
        <p15:guide id="18" orient="horz" pos="2719">
          <p15:clr>
            <a:srgbClr val="1C4587"/>
          </p15:clr>
        </p15:guide>
        <p15:guide id="19" orient="horz" pos="3116">
          <p15:clr>
            <a:srgbClr val="EA4335"/>
          </p15:clr>
        </p15:guide>
        <p15:guide id="20" orient="horz" pos="3519">
          <p15:clr>
            <a:srgbClr val="EA4335"/>
          </p15:clr>
        </p15:guide>
        <p15:guide id="21" orient="horz" pos="3917">
          <p15:clr>
            <a:srgbClr val="EA4335"/>
          </p15:clr>
        </p15:guide>
        <p15:guide id="22" orient="horz" pos="4320">
          <p15:clr>
            <a:srgbClr val="EA4335"/>
          </p15:clr>
        </p15:guide>
        <p15:guide id="23" orient="horz" pos="4717">
          <p15:clr>
            <a:srgbClr val="EA4335"/>
          </p15:clr>
        </p15:guide>
        <p15:guide id="24" orient="horz" pos="5115">
          <p15:clr>
            <a:srgbClr val="EA4335"/>
          </p15:clr>
        </p15:guide>
        <p15:guide id="25" orient="horz" pos="5518">
          <p15:clr>
            <a:srgbClr val="EA4335"/>
          </p15:clr>
        </p15:guide>
        <p15:guide id="26" orient="horz" pos="5921">
          <p15:clr>
            <a:srgbClr val="EA4335"/>
          </p15:clr>
        </p15:guide>
        <p15:guide id="27" orient="horz" pos="6319">
          <p15:clr>
            <a:srgbClr val="EA4335"/>
          </p15:clr>
        </p15:guide>
        <p15:guide id="28" orient="horz" pos="6716">
          <p15:clr>
            <a:srgbClr val="EA4335"/>
          </p15:clr>
        </p15:guide>
        <p15:guide id="29" orient="horz" pos="7119">
          <p15:clr>
            <a:srgbClr val="EA4335"/>
          </p15:clr>
        </p15:guide>
        <p15:guide id="30" orient="horz" pos="752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4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5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7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8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comments" Target="../comments/comment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3.xml"/><Relationship Id="rId3" Type="http://schemas.openxmlformats.org/officeDocument/2006/relationships/comments" Target="../comments/comment3.xml"/><Relationship Id="rId4" Type="http://schemas.openxmlformats.org/officeDocument/2006/relationships/image" Target="../media/image2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4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comments" Target="../comments/comment4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6.xml"/><Relationship Id="rId3" Type="http://schemas.openxmlformats.org/officeDocument/2006/relationships/comments" Target="../comments/comment5.xml"/><Relationship Id="rId4" Type="http://schemas.openxmlformats.org/officeDocument/2006/relationships/image" Target="../media/image7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2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Relationship Id="rId3" Type="http://schemas.openxmlformats.org/officeDocument/2006/relationships/comments" Target="../comments/comment6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9.xml"/><Relationship Id="rId3" Type="http://schemas.openxmlformats.org/officeDocument/2006/relationships/comments" Target="../comments/comment7.xml"/><Relationship Id="rId4" Type="http://schemas.openxmlformats.org/officeDocument/2006/relationships/image" Target="../media/image2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3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3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3.xml"/><Relationship Id="rId3" Type="http://schemas.openxmlformats.org/officeDocument/2006/relationships/comments" Target="../comments/comment8.xml"/><Relationship Id="rId4" Type="http://schemas.openxmlformats.org/officeDocument/2006/relationships/image" Target="../media/image29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4.xml"/><Relationship Id="rId3" Type="http://schemas.openxmlformats.org/officeDocument/2006/relationships/comments" Target="../comments/comment9.xml"/><Relationship Id="rId4" Type="http://schemas.openxmlformats.org/officeDocument/2006/relationships/image" Target="../media/image28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4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7.xml"/><Relationship Id="rId3" Type="http://schemas.openxmlformats.org/officeDocument/2006/relationships/comments" Target="../comments/comment10.xml"/><Relationship Id="rId4" Type="http://schemas.openxmlformats.org/officeDocument/2006/relationships/hyperlink" Target="http://linkedin.com/in/dmitrypogrebnoy" TargetMode="External"/><Relationship Id="rId5" Type="http://schemas.openxmlformats.org/officeDocument/2006/relationships/image" Target="../media/image26.png"/><Relationship Id="rId6" Type="http://schemas.openxmlformats.org/officeDocument/2006/relationships/image" Target="../media/image31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8.xml"/><Relationship Id="rId3" Type="http://schemas.openxmlformats.org/officeDocument/2006/relationships/comments" Target="../comments/comment11.xml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Relationship Id="rId3" Type="http://schemas.openxmlformats.org/officeDocument/2006/relationships/comments" Target="../comments/comment12.xml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>
            <p:ph type="title"/>
          </p:nvPr>
        </p:nvSpPr>
        <p:spPr>
          <a:xfrm>
            <a:off x="1097000" y="4315975"/>
            <a:ext cx="18426300" cy="6346200"/>
          </a:xfrm>
          <a:prstGeom prst="rect">
            <a:avLst/>
          </a:prstGeom>
        </p:spPr>
        <p:txBody>
          <a:bodyPr anchorCtr="0" anchor="b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Demystifying</a:t>
            </a:r>
            <a:r>
              <a:rPr lang="en"/>
              <a:t> </a:t>
            </a:r>
            <a:r>
              <a:rPr lang="en"/>
              <a:t>Debugger</a:t>
            </a:r>
            <a:r>
              <a:rPr lang="en"/>
              <a:t>s</a:t>
            </a:r>
            <a:endParaRPr/>
          </a:p>
        </p:txBody>
      </p:sp>
      <p:sp>
        <p:nvSpPr>
          <p:cNvPr id="200" name="Google Shape;200;p41"/>
          <p:cNvSpPr txBox="1"/>
          <p:nvPr>
            <p:ph idx="2" type="body"/>
          </p:nvPr>
        </p:nvSpPr>
        <p:spPr>
          <a:xfrm>
            <a:off x="1097000" y="10661900"/>
            <a:ext cx="14647500" cy="12804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Dmitry Pogrebnoy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/>
              <a:t>RubyMine Team Lead at</a:t>
            </a:r>
            <a:r>
              <a:rPr lang="en"/>
              <a:t> JetBrains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2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6" name="Google Shape;206;p42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7" name="Google Shape;207;p42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8" name="Google Shape;208;p42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9" name="Google Shape;209;p42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5" name="Google Shape;215;p43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6" name="Google Shape;216;p43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7" name="Google Shape;217;p43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8" name="Google Shape;218;p43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 simplify debugging?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in Ruby code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4" name="Google Shape;224;p44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5" name="Google Shape;225;p44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6" name="Google Shape;226;p44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7" name="Google Shape;227;p44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in Ruby code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3" name="Google Shape;233;p45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5" name="Google Shape;235;p45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6" name="Google Shape;236;p45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in Ruby code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2" name="Google Shape;242;p46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3" name="Google Shape;243;p46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46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5" name="Google Shape;245;p46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 simplify debugging?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1" name="Google Shape;251;p47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2" name="Google Shape;252;p47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3" name="Google Shape;253;p47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4" name="Google Shape;254;p47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7709" r="-7697" t="0"/>
          <a:stretch/>
        </p:blipFill>
        <p:spPr>
          <a:xfrm>
            <a:off x="1097000" y="3044950"/>
            <a:ext cx="22236300" cy="8897124"/>
          </a:xfrm>
          <a:prstGeom prst="rect">
            <a:avLst/>
          </a:prstGeom>
        </p:spPr>
      </p:pic>
      <p:sp>
        <p:nvSpPr>
          <p:cNvPr id="260" name="Google Shape;260;p48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an example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7709" r="-7697" t="0"/>
          <a:stretch/>
        </p:blipFill>
        <p:spPr>
          <a:xfrm>
            <a:off x="1097000" y="3044950"/>
            <a:ext cx="22236300" cy="8897124"/>
          </a:xfrm>
          <a:prstGeom prst="rect">
            <a:avLst/>
          </a:prstGeom>
        </p:spPr>
      </p:pic>
      <p:sp>
        <p:nvSpPr>
          <p:cNvPr id="266" name="Google Shape;266;p49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start with an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" name="Google Shape;267;p49"/>
          <p:cNvCxnSpPr/>
          <p:nvPr/>
        </p:nvCxnSpPr>
        <p:spPr>
          <a:xfrm>
            <a:off x="13201050" y="11775775"/>
            <a:ext cx="79599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0" l="-7697" r="-7709" t="50"/>
          <a:stretch/>
        </p:blipFill>
        <p:spPr>
          <a:xfrm>
            <a:off x="1097000" y="3044950"/>
            <a:ext cx="22236300" cy="8897124"/>
          </a:xfrm>
          <a:prstGeom prst="rect">
            <a:avLst/>
          </a:prstGeom>
        </p:spPr>
      </p:pic>
      <p:sp>
        <p:nvSpPr>
          <p:cNvPr id="273" name="Google Shape;273;p50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start with an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0"/>
          <p:cNvSpPr/>
          <p:nvPr/>
        </p:nvSpPr>
        <p:spPr>
          <a:xfrm>
            <a:off x="9503425" y="3938725"/>
            <a:ext cx="11837700" cy="8496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4442" r="-4442" t="0"/>
          <a:stretch/>
        </p:blipFill>
        <p:spPr>
          <a:xfrm>
            <a:off x="1097000" y="3044950"/>
            <a:ext cx="22236301" cy="8897124"/>
          </a:xfrm>
          <a:prstGeom prst="rect">
            <a:avLst/>
          </a:prstGeom>
        </p:spPr>
      </p:pic>
      <p:sp>
        <p:nvSpPr>
          <p:cNvPr id="280" name="Google Shape;280;p51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start with an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1" name="Google Shape;281;p51"/>
          <p:cNvCxnSpPr/>
          <p:nvPr/>
        </p:nvCxnSpPr>
        <p:spPr>
          <a:xfrm>
            <a:off x="8695950" y="4946900"/>
            <a:ext cx="39183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4442" r="-4442" t="0"/>
          <a:stretch/>
        </p:blipFill>
        <p:spPr>
          <a:xfrm>
            <a:off x="1097000" y="3044950"/>
            <a:ext cx="22236301" cy="8897124"/>
          </a:xfrm>
          <a:prstGeom prst="rect">
            <a:avLst/>
          </a:prstGeom>
        </p:spPr>
      </p:pic>
      <p:sp>
        <p:nvSpPr>
          <p:cNvPr id="287" name="Google Shape;287;p5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Let’s start with an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52"/>
          <p:cNvCxnSpPr/>
          <p:nvPr/>
        </p:nvCxnSpPr>
        <p:spPr>
          <a:xfrm>
            <a:off x="12509000" y="11775775"/>
            <a:ext cx="93729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3"/>
          <p:cNvSpPr txBox="1"/>
          <p:nvPr>
            <p:ph idx="1" type="body"/>
          </p:nvPr>
        </p:nvSpPr>
        <p:spPr>
          <a:xfrm>
            <a:off x="1097000" y="3044950"/>
            <a:ext cx="22204500" cy="8897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puts</a:t>
            </a:r>
            <a:r>
              <a:rPr lang="en" sz="4000">
                <a:solidFill>
                  <a:srgbClr val="9E9E9E"/>
                </a:solidFill>
              </a:rPr>
              <a:t> statements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puts_debuggerer</a:t>
            </a:r>
            <a:r>
              <a:rPr lang="en" sz="4000">
                <a:solidFill>
                  <a:srgbClr val="9E9E9E"/>
                </a:solidFill>
              </a:rPr>
              <a:t> gem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awesome_print</a:t>
            </a:r>
            <a:r>
              <a:rPr lang="en" sz="4000">
                <a:solidFill>
                  <a:srgbClr val="9E9E9E"/>
                </a:solidFill>
              </a:rPr>
              <a:t> gem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Interactive consoles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IRB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Pry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Debuggers!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294" name="Google Shape;294;p53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could we use to find bugs?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4"/>
          <p:cNvSpPr txBox="1"/>
          <p:nvPr>
            <p:ph idx="1" type="body"/>
          </p:nvPr>
        </p:nvSpPr>
        <p:spPr>
          <a:xfrm>
            <a:off x="1097000" y="3044950"/>
            <a:ext cx="22204500" cy="8897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</a:t>
            </a:r>
            <a:r>
              <a:rPr lang="en" sz="4000"/>
              <a:t> statements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puts_debuggerer</a:t>
            </a:r>
            <a:r>
              <a:rPr lang="en" sz="4000"/>
              <a:t> gem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awesome_print</a:t>
            </a:r>
            <a:r>
              <a:rPr lang="en" sz="4000"/>
              <a:t> gem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Interactive consoles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IRB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Pry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Debuggers!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00" name="Google Shape;300;p54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could we use to find bugs?</a:t>
            </a:r>
            <a:endParaRPr/>
          </a:p>
        </p:txBody>
      </p:sp>
      <p:pic>
        <p:nvPicPr>
          <p:cNvPr id="301" name="Google Shape;30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9150" y="3355025"/>
            <a:ext cx="128016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>
            <p:ph idx="1" type="body"/>
          </p:nvPr>
        </p:nvSpPr>
        <p:spPr>
          <a:xfrm>
            <a:off x="1097000" y="3044950"/>
            <a:ext cx="22204500" cy="8897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</a:t>
            </a:r>
            <a:r>
              <a:rPr lang="en" sz="4000"/>
              <a:t> statements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puts_debuggerer</a:t>
            </a:r>
            <a:r>
              <a:rPr lang="en" sz="4000"/>
              <a:t> gem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awesome_print</a:t>
            </a:r>
            <a:r>
              <a:rPr lang="en" sz="4000"/>
              <a:t> gem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Interactive consoles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IRB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Pry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Debuggers!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07" name="Google Shape;307;p55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could we use to find bugs?</a:t>
            </a:r>
            <a:endParaRPr/>
          </a:p>
        </p:txBody>
      </p:sp>
      <p:pic>
        <p:nvPicPr>
          <p:cNvPr id="308" name="Google Shape;308;p55"/>
          <p:cNvPicPr preferRelativeResize="0"/>
          <p:nvPr/>
        </p:nvPicPr>
        <p:blipFill rotWithShape="1">
          <a:blip r:embed="rId3">
            <a:alphaModFix/>
          </a:blip>
          <a:srcRect b="28409" l="0" r="0" t="1410"/>
          <a:stretch/>
        </p:blipFill>
        <p:spPr>
          <a:xfrm>
            <a:off x="9237025" y="3925450"/>
            <a:ext cx="14337550" cy="533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55"/>
          <p:cNvCxnSpPr/>
          <p:nvPr/>
        </p:nvCxnSpPr>
        <p:spPr>
          <a:xfrm>
            <a:off x="11231525" y="5192675"/>
            <a:ext cx="28140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 txBox="1"/>
          <p:nvPr>
            <p:ph idx="1" type="body"/>
          </p:nvPr>
        </p:nvSpPr>
        <p:spPr>
          <a:xfrm>
            <a:off x="1097000" y="3044950"/>
            <a:ext cx="22204500" cy="88971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</a:t>
            </a:r>
            <a:r>
              <a:rPr lang="en" sz="4000"/>
              <a:t> statements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puts_debuggerer</a:t>
            </a:r>
            <a:r>
              <a:rPr lang="en" sz="4000"/>
              <a:t> gem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awesome_print</a:t>
            </a:r>
            <a:r>
              <a:rPr lang="en" sz="4000"/>
              <a:t> gem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Interactive consoles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IRB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Pry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Debuggers!</a:t>
            </a:r>
            <a:endParaRPr sz="4000"/>
          </a:p>
        </p:txBody>
      </p:sp>
      <p:sp>
        <p:nvSpPr>
          <p:cNvPr id="315" name="Google Shape;315;p56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could we use to find bugs?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often do Ruby developers use a debugger?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8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third run is a debug run!</a:t>
            </a:r>
            <a:endParaRPr/>
          </a:p>
        </p:txBody>
      </p:sp>
      <p:pic>
        <p:nvPicPr>
          <p:cNvPr id="326" name="Google Shape;326;p5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725" y="2751350"/>
            <a:ext cx="13700225" cy="94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8"/>
          <p:cNvSpPr/>
          <p:nvPr/>
        </p:nvSpPr>
        <p:spPr>
          <a:xfrm>
            <a:off x="1169375" y="5030650"/>
            <a:ext cx="500100" cy="500100"/>
          </a:xfrm>
          <a:prstGeom prst="ellipse">
            <a:avLst/>
          </a:prstGeom>
          <a:solidFill>
            <a:srgbClr val="6B57FF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58"/>
          <p:cNvSpPr/>
          <p:nvPr/>
        </p:nvSpPr>
        <p:spPr>
          <a:xfrm>
            <a:off x="1169375" y="4192450"/>
            <a:ext cx="500100" cy="500100"/>
          </a:xfrm>
          <a:prstGeom prst="ellipse">
            <a:avLst/>
          </a:prstGeom>
          <a:solidFill>
            <a:srgbClr val="FD8008"/>
          </a:solidFill>
          <a:ln cap="flat" cmpd="sng" w="9525">
            <a:solidFill>
              <a:srgbClr val="FD8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58"/>
          <p:cNvSpPr txBox="1"/>
          <p:nvPr>
            <p:ph idx="4294967295" type="body"/>
          </p:nvPr>
        </p:nvSpPr>
        <p:spPr>
          <a:xfrm>
            <a:off x="1821200" y="3922220"/>
            <a:ext cx="29133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/>
              <a:t>Debug runs</a:t>
            </a:r>
            <a:endParaRPr sz="4000"/>
          </a:p>
        </p:txBody>
      </p:sp>
      <p:sp>
        <p:nvSpPr>
          <p:cNvPr id="330" name="Google Shape;330;p58"/>
          <p:cNvSpPr txBox="1"/>
          <p:nvPr>
            <p:ph idx="4294967295" type="body"/>
          </p:nvPr>
        </p:nvSpPr>
        <p:spPr>
          <a:xfrm>
            <a:off x="1821190" y="4785923"/>
            <a:ext cx="26406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/>
              <a:t>Other runs</a:t>
            </a:r>
            <a:endParaRPr sz="4000"/>
          </a:p>
        </p:txBody>
      </p:sp>
      <p:sp>
        <p:nvSpPr>
          <p:cNvPr id="331" name="Google Shape;331;p58"/>
          <p:cNvSpPr txBox="1"/>
          <p:nvPr>
            <p:ph idx="4294967295" type="body"/>
          </p:nvPr>
        </p:nvSpPr>
        <p:spPr>
          <a:xfrm>
            <a:off x="13262725" y="6070495"/>
            <a:ext cx="29133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/>
              <a:t>34%</a:t>
            </a:r>
            <a:endParaRPr sz="4000"/>
          </a:p>
        </p:txBody>
      </p:sp>
      <p:sp>
        <p:nvSpPr>
          <p:cNvPr id="332" name="Google Shape;332;p58"/>
          <p:cNvSpPr txBox="1"/>
          <p:nvPr>
            <p:ph idx="4294967295" type="body"/>
          </p:nvPr>
        </p:nvSpPr>
        <p:spPr>
          <a:xfrm>
            <a:off x="8804275" y="9006270"/>
            <a:ext cx="2913300" cy="787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>
                <a:solidFill>
                  <a:schemeClr val="lt1"/>
                </a:solidFill>
              </a:rPr>
              <a:t>66%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333" name="Google Shape;333;p58"/>
          <p:cNvSpPr txBox="1"/>
          <p:nvPr>
            <p:ph idx="4294967295" type="body"/>
          </p:nvPr>
        </p:nvSpPr>
        <p:spPr>
          <a:xfrm>
            <a:off x="5456639" y="11821700"/>
            <a:ext cx="135624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/>
              <a:t>Based on anonymous stats from RubyMine 2024.2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9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9" name="Google Shape;339;p59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0" name="Google Shape;340;p59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1" name="Google Shape;341;p59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2" name="Google Shape;342;p59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0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Introduced in Ruby 2.0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Allows to execute specific code on certain events in your code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Works everywhere except </a:t>
            </a:r>
            <a:r>
              <a:rPr lang="en" sz="4000">
                <a:solidFill>
                  <a:srgbClr val="9E9E9E"/>
                </a:solidFill>
              </a:rPr>
              <a:t>Ractor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48" name="Google Shape;348;p60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Introduced in Ruby 2.0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Allows to execute specific code on certain events in your code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Works everywhere except Ractor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54" name="Google Shape;354;p61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2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Introduced in Ruby 2.0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Allows to execute specific code on certain events in your code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Works everywhere except Ractor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60" name="Google Shape;360;p62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Introduced in Ruby 2.0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Allows to execute specific code on certain events in your code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Works everywhere except Ractor</a:t>
            </a:r>
            <a:endParaRPr sz="4000"/>
          </a:p>
        </p:txBody>
      </p:sp>
      <p:sp>
        <p:nvSpPr>
          <p:cNvPr id="366" name="Google Shape;366;p63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3817" r="-20005" t="0"/>
          <a:stretch/>
        </p:blipFill>
        <p:spPr>
          <a:xfrm>
            <a:off x="1097000" y="3044950"/>
            <a:ext cx="22236299" cy="9479301"/>
          </a:xfrm>
          <a:prstGeom prst="rect">
            <a:avLst/>
          </a:prstGeom>
        </p:spPr>
      </p:pic>
      <p:sp>
        <p:nvSpPr>
          <p:cNvPr id="372" name="Google Shape;372;p6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example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9714" r="-29698" t="0"/>
          <a:stretch/>
        </p:blipFill>
        <p:spPr>
          <a:xfrm>
            <a:off x="1097000" y="3044950"/>
            <a:ext cx="22236299" cy="9479301"/>
          </a:xfrm>
          <a:prstGeom prst="rect">
            <a:avLst/>
          </a:prstGeom>
        </p:spPr>
      </p:pic>
      <p:sp>
        <p:nvSpPr>
          <p:cNvPr id="378" name="Google Shape;378;p6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with TracePoint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9714" r="-29698" t="0"/>
          <a:stretch/>
        </p:blipFill>
        <p:spPr>
          <a:xfrm>
            <a:off x="1097000" y="3044950"/>
            <a:ext cx="22236299" cy="9479301"/>
          </a:xfrm>
          <a:prstGeom prst="rect">
            <a:avLst/>
          </a:prstGeom>
        </p:spPr>
      </p:pic>
      <p:sp>
        <p:nvSpPr>
          <p:cNvPr id="384" name="Google Shape;384;p6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with TracePoint</a:t>
            </a:r>
            <a:endParaRPr/>
          </a:p>
        </p:txBody>
      </p:sp>
      <p:sp>
        <p:nvSpPr>
          <p:cNvPr id="385" name="Google Shape;385;p66"/>
          <p:cNvSpPr/>
          <p:nvPr/>
        </p:nvSpPr>
        <p:spPr>
          <a:xfrm>
            <a:off x="7626300" y="7779975"/>
            <a:ext cx="10788600" cy="24594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7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 VM Instruction Sequence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8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Representation of compiled bytecode for a Ruby V</a:t>
            </a:r>
            <a:r>
              <a:rPr lang="en" sz="4000"/>
              <a:t>M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Depends on the Ruby version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Provides access to low-level representation of Ruby code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396" name="Google Shape;396;p6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</a:t>
            </a:r>
            <a:r>
              <a:rPr lang="en"/>
              <a:t>–</a:t>
            </a:r>
            <a:r>
              <a:rPr lang="en"/>
              <a:t> ISeq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Representation of compiled bytecode for a Ruby VM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Depends on the Ruby version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Provides access to low-level representation of Ruby code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402" name="Google Shape;402;p6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</a:t>
            </a:r>
            <a:r>
              <a:rPr lang="en"/>
              <a:t>–</a:t>
            </a:r>
            <a:r>
              <a:rPr lang="en"/>
              <a:t> ISeq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0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Representation of compiled bytecode for a Ruby VM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Depends on the Ruby version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Provides access to low-level representation of Ruby code</a:t>
            </a:r>
            <a:endParaRPr sz="4000"/>
          </a:p>
        </p:txBody>
      </p:sp>
      <p:sp>
        <p:nvSpPr>
          <p:cNvPr id="408" name="Google Shape;408;p70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</a:t>
            </a:r>
            <a:r>
              <a:rPr lang="en"/>
              <a:t> </a:t>
            </a:r>
            <a:r>
              <a:rPr lang="en"/>
              <a:t>–</a:t>
            </a:r>
            <a:r>
              <a:rPr lang="en"/>
              <a:t> ISeq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0974" l="-100" r="-110" t="-3822"/>
          <a:stretch/>
        </p:blipFill>
        <p:spPr>
          <a:xfrm>
            <a:off x="1097000" y="3044950"/>
            <a:ext cx="22236299" cy="9479300"/>
          </a:xfrm>
          <a:prstGeom prst="rect">
            <a:avLst/>
          </a:prstGeom>
        </p:spPr>
      </p:pic>
      <p:sp>
        <p:nvSpPr>
          <p:cNvPr id="414" name="Google Shape;414;p71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example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698" l="0" r="0" t="-84698"/>
          <a:stretch/>
        </p:blipFill>
        <p:spPr>
          <a:xfrm>
            <a:off x="1097000" y="3044950"/>
            <a:ext cx="22236298" cy="9479300"/>
          </a:xfrm>
          <a:prstGeom prst="rect">
            <a:avLst/>
          </a:prstGeom>
        </p:spPr>
      </p:pic>
      <p:sp>
        <p:nvSpPr>
          <p:cNvPr id="420" name="Google Shape;420;p7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example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698" l="0" r="0" t="-84698"/>
          <a:stretch/>
        </p:blipFill>
        <p:spPr>
          <a:xfrm>
            <a:off x="1097000" y="3044950"/>
            <a:ext cx="22236298" cy="9479300"/>
          </a:xfrm>
          <a:prstGeom prst="rect">
            <a:avLst/>
          </a:prstGeom>
        </p:spPr>
      </p:pic>
      <p:sp>
        <p:nvSpPr>
          <p:cNvPr id="426" name="Google Shape;426;p7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example</a:t>
            </a:r>
            <a:endParaRPr/>
          </a:p>
        </p:txBody>
      </p:sp>
      <p:cxnSp>
        <p:nvCxnSpPr>
          <p:cNvPr id="427" name="Google Shape;427;p73"/>
          <p:cNvCxnSpPr/>
          <p:nvPr/>
        </p:nvCxnSpPr>
        <p:spPr>
          <a:xfrm>
            <a:off x="2491850" y="8017275"/>
            <a:ext cx="140628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698" l="0" r="0" t="-84698"/>
          <a:stretch/>
        </p:blipFill>
        <p:spPr>
          <a:xfrm>
            <a:off x="1097000" y="3044950"/>
            <a:ext cx="22236298" cy="9479300"/>
          </a:xfrm>
          <a:prstGeom prst="rect">
            <a:avLst/>
          </a:prstGeom>
        </p:spPr>
      </p:pic>
      <p:sp>
        <p:nvSpPr>
          <p:cNvPr id="433" name="Google Shape;433;p7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Sequence example</a:t>
            </a:r>
            <a:endParaRPr/>
          </a:p>
        </p:txBody>
      </p:sp>
      <p:cxnSp>
        <p:nvCxnSpPr>
          <p:cNvPr id="434" name="Google Shape;434;p74"/>
          <p:cNvCxnSpPr/>
          <p:nvPr/>
        </p:nvCxnSpPr>
        <p:spPr>
          <a:xfrm>
            <a:off x="19761450" y="7367225"/>
            <a:ext cx="14085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74"/>
          <p:cNvCxnSpPr/>
          <p:nvPr/>
        </p:nvCxnSpPr>
        <p:spPr>
          <a:xfrm>
            <a:off x="19761450" y="9400025"/>
            <a:ext cx="9318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5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1" name="Google Shape;441;p75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2" name="Google Shape;442;p75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3" name="Google Shape;443;p75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4" name="Google Shape;444;p75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6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Provides breakpoints, stepping, and context introspection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Default debugger for 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Ruby 2.5.X - 2.6.X 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Rails 5.X - 6.X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Requires modification to source code </a:t>
            </a:r>
            <a:r>
              <a:rPr lang="en" sz="4000">
                <a:solidFill>
                  <a:srgbClr val="9E9E9E"/>
                </a:solidFill>
              </a:rPr>
              <a:t>for debugging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CLI and VS Code plugin for GUI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450" name="Google Shape;450;p76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Byebug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7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Provides breakpoints, stepping, and context introspection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Default debugger for 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Ruby 2.5.X - 2.6.X 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Rails 5.X - 6.X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Requires modification to source code </a:t>
            </a:r>
            <a:r>
              <a:rPr lang="en" sz="4000">
                <a:solidFill>
                  <a:srgbClr val="9E9E9E"/>
                </a:solidFill>
              </a:rPr>
              <a:t>for debugging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CLI and VS Code plugin for GUI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456" name="Google Shape;456;p77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Byebug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8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Provides breakpoints, stepping, and context introspection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Default debugger for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Ruby 2.5.X - 2.6.X 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Rails 5.X - 6.X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Requires modification to source code </a:t>
            </a:r>
            <a:r>
              <a:rPr lang="en" sz="4000">
                <a:solidFill>
                  <a:srgbClr val="9E9E9E"/>
                </a:solidFill>
              </a:rPr>
              <a:t>for debugging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CLI and VS Code plugin for GUI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462" name="Google Shape;462;p7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Byebug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Provides breakpoints, stepping, and context introspection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Default debugger for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Ruby 2.5.X - 2.6.X 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Rails 5.X - 6.X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Requires modification to source code </a:t>
            </a:r>
            <a:r>
              <a:rPr lang="en" sz="4000"/>
              <a:t>for debugging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CLI and VS Code plugin for GUI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468" name="Google Shape;468;p7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Byebug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0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Provides breakpoints, stepping, and context introspection 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Default debugger for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Ruby 2.5.X - 2.6.X 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Rails 5.X - 6.X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Requires modification to source code </a:t>
            </a:r>
            <a:r>
              <a:rPr lang="en" sz="4000"/>
              <a:t>for debugging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CLI and VS Code plugin for GUI</a:t>
            </a:r>
            <a:endParaRPr sz="4000"/>
          </a:p>
        </p:txBody>
      </p:sp>
      <p:sp>
        <p:nvSpPr>
          <p:cNvPr id="474" name="Google Shape;474;p80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Byebug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1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Byebug work?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2865" r="-22865" t="0"/>
          <a:stretch/>
        </p:blipFill>
        <p:spPr>
          <a:xfrm>
            <a:off x="1097000" y="3044950"/>
            <a:ext cx="22236296" cy="9479302"/>
          </a:xfrm>
          <a:prstGeom prst="rect">
            <a:avLst/>
          </a:prstGeom>
        </p:spPr>
      </p:pic>
      <p:sp>
        <p:nvSpPr>
          <p:cNvPr id="485" name="Google Shape;485;p8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model of B</a:t>
            </a:r>
            <a:r>
              <a:rPr lang="en"/>
              <a:t>yebug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2865" r="-22865" t="0"/>
          <a:stretch/>
        </p:blipFill>
        <p:spPr>
          <a:xfrm>
            <a:off x="1097000" y="3044950"/>
            <a:ext cx="22236296" cy="9479302"/>
          </a:xfrm>
          <a:prstGeom prst="rect">
            <a:avLst/>
          </a:prstGeom>
        </p:spPr>
      </p:pic>
      <p:sp>
        <p:nvSpPr>
          <p:cNvPr id="491" name="Google Shape;491;p8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model of Byebug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3"/>
          <p:cNvSpPr/>
          <p:nvPr/>
        </p:nvSpPr>
        <p:spPr>
          <a:xfrm>
            <a:off x="5847900" y="2923950"/>
            <a:ext cx="10122900" cy="13920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2865" r="-22865" t="0"/>
          <a:stretch/>
        </p:blipFill>
        <p:spPr>
          <a:xfrm>
            <a:off x="1097000" y="3044950"/>
            <a:ext cx="22236296" cy="9479302"/>
          </a:xfrm>
          <a:prstGeom prst="rect">
            <a:avLst/>
          </a:prstGeom>
        </p:spPr>
      </p:pic>
      <p:sp>
        <p:nvSpPr>
          <p:cNvPr id="498" name="Google Shape;498;p8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model of Byebug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4"/>
          <p:cNvSpPr/>
          <p:nvPr/>
        </p:nvSpPr>
        <p:spPr>
          <a:xfrm>
            <a:off x="6423825" y="5979425"/>
            <a:ext cx="9768600" cy="41436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2865" r="-22865" t="0"/>
          <a:stretch/>
        </p:blipFill>
        <p:spPr>
          <a:xfrm>
            <a:off x="1097000" y="3044950"/>
            <a:ext cx="22236296" cy="9479302"/>
          </a:xfrm>
          <a:prstGeom prst="rect">
            <a:avLst/>
          </a:prstGeom>
        </p:spPr>
      </p:pic>
      <p:sp>
        <p:nvSpPr>
          <p:cNvPr id="505" name="Google Shape;505;p8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model of Byebug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85"/>
          <p:cNvSpPr/>
          <p:nvPr/>
        </p:nvSpPr>
        <p:spPr>
          <a:xfrm>
            <a:off x="6423825" y="5979425"/>
            <a:ext cx="9768600" cy="41436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85"/>
          <p:cNvSpPr txBox="1"/>
          <p:nvPr/>
        </p:nvSpPr>
        <p:spPr>
          <a:xfrm flipH="1">
            <a:off x="18097475" y="8399425"/>
            <a:ext cx="3000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1"/>
                </a:solidFill>
              </a:rPr>
              <a:t>🐌</a:t>
            </a:r>
            <a:endParaRPr sz="20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6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gem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7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TracePoint improvements in Ruby 2.6</a:t>
            </a:r>
            <a:endParaRPr sz="4000"/>
          </a:p>
          <a:p>
            <a:pPr indent="-482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Ability to specify target line or </a:t>
            </a:r>
            <a:r>
              <a:rPr lang="en" sz="4000">
                <a:solidFill>
                  <a:srgbClr val="9E9E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iseq</a:t>
            </a:r>
            <a:r>
              <a:rPr lang="en" sz="4000">
                <a:solidFill>
                  <a:srgbClr val="9E9E9E"/>
                </a:solidFill>
              </a:rPr>
              <a:t> </a:t>
            </a:r>
            <a:r>
              <a:rPr lang="en" sz="4000">
                <a:solidFill>
                  <a:srgbClr val="9E9E9E"/>
                </a:solidFill>
              </a:rPr>
              <a:t>for </a:t>
            </a:r>
            <a:r>
              <a:rPr lang="en" sz="4000">
                <a:solidFill>
                  <a:srgbClr val="9E9E9E"/>
                </a:solidFill>
              </a:rPr>
              <a:t>TracePoint</a:t>
            </a:r>
            <a:endParaRPr sz="4000">
              <a:solidFill>
                <a:srgbClr val="9E9E9E"/>
              </a:solidFill>
            </a:endParaRPr>
          </a:p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No need to check every event -&gt; no performance degradation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18" name="Google Shape;518;p87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TracePoint improvements in Ruby 2.6</a:t>
            </a:r>
            <a:endParaRPr sz="4000"/>
          </a:p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Ability to specify target </a:t>
            </a:r>
            <a:r>
              <a:rPr b="1" lang="en" sz="4000"/>
              <a:t>line</a:t>
            </a:r>
            <a:r>
              <a:rPr lang="en" sz="4000"/>
              <a:t> or </a:t>
            </a:r>
            <a:r>
              <a:rPr b="1" lang="en" sz="4000">
                <a:latin typeface="JetBrains Mono"/>
                <a:ea typeface="JetBrains Mono"/>
                <a:cs typeface="JetBrains Mono"/>
                <a:sym typeface="JetBrains Mono"/>
              </a:rPr>
              <a:t>iseq</a:t>
            </a:r>
            <a:r>
              <a:rPr b="1" lang="en" sz="4000"/>
              <a:t> </a:t>
            </a:r>
            <a:r>
              <a:rPr lang="en" sz="4000"/>
              <a:t>for TracePoint</a:t>
            </a:r>
            <a:endParaRPr sz="4000"/>
          </a:p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No need to check every event -&gt; no performance degradation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24" name="Google Shape;524;p8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TracePoint improvements in Ruby 2.6</a:t>
            </a:r>
            <a:endParaRPr sz="4000"/>
          </a:p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Ability to specify target line or </a:t>
            </a:r>
            <a:r>
              <a:rPr lang="en" sz="4000">
                <a:latin typeface="JetBrains Mono"/>
                <a:ea typeface="JetBrains Mono"/>
                <a:cs typeface="JetBrains Mono"/>
                <a:sym typeface="JetBrains Mono"/>
              </a:rPr>
              <a:t>iseq</a:t>
            </a:r>
            <a:r>
              <a:rPr lang="en" sz="4000"/>
              <a:t> for TracePoint</a:t>
            </a:r>
            <a:endParaRPr sz="4000"/>
          </a:p>
          <a:p>
            <a:pPr indent="-482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need to check every event -&gt; no performance degradation </a:t>
            </a:r>
            <a:endParaRPr sz="4000"/>
          </a:p>
        </p:txBody>
      </p:sp>
      <p:sp>
        <p:nvSpPr>
          <p:cNvPr id="530" name="Google Shape;530;p8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improvements</a:t>
            </a:r>
            <a:endParaRPr/>
          </a:p>
        </p:txBody>
      </p:sp>
      <p:sp>
        <p:nvSpPr>
          <p:cNvPr id="531" name="Google Shape;531;p89"/>
          <p:cNvSpPr txBox="1"/>
          <p:nvPr/>
        </p:nvSpPr>
        <p:spPr>
          <a:xfrm>
            <a:off x="17231875" y="5226450"/>
            <a:ext cx="2747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0">
                <a:solidFill>
                  <a:srgbClr val="434343"/>
                </a:solidFill>
                <a:highlight>
                  <a:schemeClr val="lt1"/>
                </a:highlight>
              </a:rPr>
              <a:t>🚀</a:t>
            </a:r>
            <a:endParaRPr sz="20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4312" r="-24297" t="0"/>
          <a:stretch/>
        </p:blipFill>
        <p:spPr>
          <a:xfrm>
            <a:off x="1097000" y="3044950"/>
            <a:ext cx="22236297" cy="9479302"/>
          </a:xfrm>
          <a:prstGeom prst="rect">
            <a:avLst/>
          </a:prstGeom>
        </p:spPr>
      </p:pic>
      <p:sp>
        <p:nvSpPr>
          <p:cNvPr id="537" name="Google Shape;537;p90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4312" r="-24297" t="0"/>
          <a:stretch/>
        </p:blipFill>
        <p:spPr>
          <a:xfrm>
            <a:off x="1097000" y="3044950"/>
            <a:ext cx="22236297" cy="9479302"/>
          </a:xfrm>
          <a:prstGeom prst="rect">
            <a:avLst/>
          </a:prstGeom>
        </p:spPr>
      </p:pic>
      <p:sp>
        <p:nvSpPr>
          <p:cNvPr id="543" name="Google Shape;543;p91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91"/>
          <p:cNvSpPr/>
          <p:nvPr/>
        </p:nvSpPr>
        <p:spPr>
          <a:xfrm>
            <a:off x="6313050" y="8060475"/>
            <a:ext cx="6195900" cy="6996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4312" r="-24297" t="0"/>
          <a:stretch/>
        </p:blipFill>
        <p:spPr>
          <a:xfrm>
            <a:off x="1097000" y="3044950"/>
            <a:ext cx="22236297" cy="9479302"/>
          </a:xfrm>
          <a:prstGeom prst="rect">
            <a:avLst/>
          </a:prstGeom>
        </p:spPr>
      </p:pic>
      <p:sp>
        <p:nvSpPr>
          <p:cNvPr id="550" name="Google Shape;550;p9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TracePoint improvement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2"/>
          <p:cNvSpPr/>
          <p:nvPr/>
        </p:nvSpPr>
        <p:spPr>
          <a:xfrm>
            <a:off x="6313050" y="10661900"/>
            <a:ext cx="7398600" cy="18624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3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Supports Ruby 2.7+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Supports different frontends – VS Code and Chrome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Bundled in Ruby 3.1+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57" name="Google Shape;557;p93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gem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4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2.7+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Supports different frontends – VS Code and Chrome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Bundled in Ruby 3.1+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63" name="Google Shape;563;p94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gem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5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2.7+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different frontends – VS Code and Chrome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Bundled in Ruby 3.1+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69" name="Google Shape;569;p95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gem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6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2.7+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different frontends – VS Code and Chrome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Bundled in Ruby 3.1+</a:t>
            </a:r>
            <a:endParaRPr sz="4000"/>
          </a:p>
        </p:txBody>
      </p:sp>
      <p:sp>
        <p:nvSpPr>
          <p:cNvPr id="575" name="Google Shape;575;p96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gem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7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8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Bundled in RubyMine with GUI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Seamless </a:t>
            </a:r>
            <a:r>
              <a:rPr lang="en" sz="4000">
                <a:solidFill>
                  <a:srgbClr val="9E9E9E"/>
                </a:solidFill>
              </a:rPr>
              <a:t>debugging </a:t>
            </a:r>
            <a:r>
              <a:rPr lang="en" sz="4000">
                <a:solidFill>
                  <a:srgbClr val="9E9E9E"/>
                </a:solidFill>
              </a:rPr>
              <a:t>experience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Supports Ruby 2.3+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No performance degradation with all supported Ruby versions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Ability to attach to any Ruby process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86" name="Google Shape;586;p9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Bundled in RubyMine with GUI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Seamless debugging experience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Supports Ruby 2.3+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No performance degradation with all supported Ruby versions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Ability to attach to any Ruby process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92" name="Google Shape;592;p9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0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Bundled in RubyMine with GUI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Seamless debugging experience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2.3+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No performance degradation with all supported Ruby versions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Ability to attach to any Ruby process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598" name="Google Shape;598;p100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1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Bundled in RubyMine with GUI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Seamless debugging experience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2.3+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 with all supported Ruby </a:t>
            </a:r>
            <a:r>
              <a:rPr lang="en" sz="4000"/>
              <a:t>versions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Ability to attach to any Ruby process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604" name="Google Shape;604;p101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2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Bundled in RubyMine with GUI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Seamless debugging experience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Supports Ruby 2.3+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No performance degradation with all supported Ruby versions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SzPts val="4000"/>
              <a:buChar char="●"/>
            </a:pPr>
            <a:r>
              <a:rPr lang="en" sz="4000"/>
              <a:t>Ability to attach to any Ruby process</a:t>
            </a:r>
            <a:endParaRPr sz="4000"/>
          </a:p>
        </p:txBody>
      </p:sp>
      <p:sp>
        <p:nvSpPr>
          <p:cNvPr id="610" name="Google Shape;610;p102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3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the RubyMine debugger structured?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10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4512" l="0" r="0" t="-6934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21" name="Google Shape;621;p10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</a:t>
            </a:r>
            <a:r>
              <a:rPr lang="en"/>
              <a:t>ebugger </a:t>
            </a:r>
            <a:r>
              <a:rPr lang="en"/>
              <a:t>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4512" l="0" r="0" t="-6934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27" name="Google Shape;627;p10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5"/>
          <p:cNvSpPr/>
          <p:nvPr/>
        </p:nvSpPr>
        <p:spPr>
          <a:xfrm>
            <a:off x="1439825" y="4946900"/>
            <a:ext cx="6756000" cy="54198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4512" l="0" r="0" t="-6934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34" name="Google Shape;634;p10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06"/>
          <p:cNvSpPr/>
          <p:nvPr/>
        </p:nvSpPr>
        <p:spPr>
          <a:xfrm>
            <a:off x="8490900" y="4946900"/>
            <a:ext cx="6793500" cy="54198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4512" l="0" r="0" t="-6934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41" name="Google Shape;641;p107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07"/>
          <p:cNvSpPr/>
          <p:nvPr/>
        </p:nvSpPr>
        <p:spPr>
          <a:xfrm>
            <a:off x="16886200" y="5586975"/>
            <a:ext cx="6793500" cy="44439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5175" r="-5175" t="0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48" name="Google Shape;648;p108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1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5175" r="-5175" t="0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54" name="Google Shape;654;p109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09"/>
          <p:cNvSpPr/>
          <p:nvPr/>
        </p:nvSpPr>
        <p:spPr>
          <a:xfrm>
            <a:off x="1705650" y="2702450"/>
            <a:ext cx="13755900" cy="50727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5175" r="-5175" t="0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661" name="Google Shape;661;p110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debugger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10"/>
          <p:cNvSpPr/>
          <p:nvPr/>
        </p:nvSpPr>
        <p:spPr>
          <a:xfrm>
            <a:off x="1705650" y="7775050"/>
            <a:ext cx="13755900" cy="50727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1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RubyMine connect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debugger?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connection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12"/>
          <p:cNvSpPr/>
          <p:nvPr/>
        </p:nvSpPr>
        <p:spPr>
          <a:xfrm>
            <a:off x="2804575" y="3112075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RubyMine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4" name="Google Shape;674;p112"/>
          <p:cNvSpPr/>
          <p:nvPr/>
        </p:nvSpPr>
        <p:spPr>
          <a:xfrm>
            <a:off x="9728350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Main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112"/>
          <p:cNvSpPr/>
          <p:nvPr/>
        </p:nvSpPr>
        <p:spPr>
          <a:xfrm>
            <a:off x="16652125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Child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6" name="Google Shape;676;p112"/>
          <p:cNvCxnSpPr>
            <a:stCxn id="673" idx="2"/>
          </p:cNvCxnSpPr>
          <p:nvPr/>
        </p:nvCxnSpPr>
        <p:spPr>
          <a:xfrm>
            <a:off x="5265175" y="5519875"/>
            <a:ext cx="0" cy="694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12"/>
          <p:cNvCxnSpPr>
            <a:stCxn id="674" idx="2"/>
            <a:endCxn id="678" idx="2"/>
          </p:cNvCxnSpPr>
          <p:nvPr/>
        </p:nvCxnSpPr>
        <p:spPr>
          <a:xfrm>
            <a:off x="12188950" y="5452750"/>
            <a:ext cx="26100" cy="70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12"/>
          <p:cNvCxnSpPr>
            <a:stCxn id="675" idx="2"/>
          </p:cNvCxnSpPr>
          <p:nvPr/>
        </p:nvCxnSpPr>
        <p:spPr>
          <a:xfrm>
            <a:off x="19112725" y="5452750"/>
            <a:ext cx="0" cy="70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680" name="Google Shape;680;p112"/>
          <p:cNvSpPr/>
          <p:nvPr/>
        </p:nvSpPr>
        <p:spPr>
          <a:xfrm>
            <a:off x="11977300" y="6720425"/>
            <a:ext cx="423300" cy="579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112"/>
          <p:cNvSpPr/>
          <p:nvPr/>
        </p:nvSpPr>
        <p:spPr>
          <a:xfrm>
            <a:off x="18897900" y="8705825"/>
            <a:ext cx="423300" cy="380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112"/>
          <p:cNvSpPr/>
          <p:nvPr/>
        </p:nvSpPr>
        <p:spPr>
          <a:xfrm>
            <a:off x="5056708" y="6111875"/>
            <a:ext cx="423300" cy="640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3" name="Google Shape;683;p112"/>
          <p:cNvCxnSpPr/>
          <p:nvPr/>
        </p:nvCxnSpPr>
        <p:spPr>
          <a:xfrm>
            <a:off x="5492375" y="6720425"/>
            <a:ext cx="65775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4" name="Google Shape;684;p112"/>
          <p:cNvSpPr txBox="1"/>
          <p:nvPr/>
        </p:nvSpPr>
        <p:spPr>
          <a:xfrm>
            <a:off x="6373525" y="6478300"/>
            <a:ext cx="45984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main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connection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13"/>
          <p:cNvSpPr/>
          <p:nvPr/>
        </p:nvSpPr>
        <p:spPr>
          <a:xfrm>
            <a:off x="2804575" y="3112075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RubyMine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Google Shape;691;p113"/>
          <p:cNvSpPr/>
          <p:nvPr/>
        </p:nvSpPr>
        <p:spPr>
          <a:xfrm>
            <a:off x="9728350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Main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113"/>
          <p:cNvSpPr/>
          <p:nvPr/>
        </p:nvSpPr>
        <p:spPr>
          <a:xfrm>
            <a:off x="16652125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Child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93" name="Google Shape;693;p113"/>
          <p:cNvCxnSpPr>
            <a:stCxn id="690" idx="2"/>
          </p:cNvCxnSpPr>
          <p:nvPr/>
        </p:nvCxnSpPr>
        <p:spPr>
          <a:xfrm>
            <a:off x="5265175" y="5519875"/>
            <a:ext cx="0" cy="694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113"/>
          <p:cNvCxnSpPr>
            <a:stCxn id="691" idx="2"/>
            <a:endCxn id="695" idx="2"/>
          </p:cNvCxnSpPr>
          <p:nvPr/>
        </p:nvCxnSpPr>
        <p:spPr>
          <a:xfrm>
            <a:off x="12188950" y="5452750"/>
            <a:ext cx="26100" cy="70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113"/>
          <p:cNvCxnSpPr>
            <a:stCxn id="692" idx="2"/>
          </p:cNvCxnSpPr>
          <p:nvPr/>
        </p:nvCxnSpPr>
        <p:spPr>
          <a:xfrm>
            <a:off x="19112725" y="5452750"/>
            <a:ext cx="0" cy="70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697" name="Google Shape;697;p113"/>
          <p:cNvSpPr/>
          <p:nvPr/>
        </p:nvSpPr>
        <p:spPr>
          <a:xfrm>
            <a:off x="11977300" y="6720425"/>
            <a:ext cx="423300" cy="579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113"/>
          <p:cNvSpPr/>
          <p:nvPr/>
        </p:nvSpPr>
        <p:spPr>
          <a:xfrm>
            <a:off x="18897900" y="8705825"/>
            <a:ext cx="423300" cy="380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p113"/>
          <p:cNvSpPr/>
          <p:nvPr/>
        </p:nvSpPr>
        <p:spPr>
          <a:xfrm>
            <a:off x="5056708" y="6111875"/>
            <a:ext cx="423300" cy="640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00" name="Google Shape;700;p113"/>
          <p:cNvCxnSpPr/>
          <p:nvPr/>
        </p:nvCxnSpPr>
        <p:spPr>
          <a:xfrm>
            <a:off x="5492375" y="6720425"/>
            <a:ext cx="657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1" name="Google Shape;701;p113"/>
          <p:cNvSpPr txBox="1"/>
          <p:nvPr/>
        </p:nvSpPr>
        <p:spPr>
          <a:xfrm>
            <a:off x="6373525" y="6478300"/>
            <a:ext cx="45984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main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02" name="Google Shape;702;p113"/>
          <p:cNvCxnSpPr/>
          <p:nvPr/>
        </p:nvCxnSpPr>
        <p:spPr>
          <a:xfrm>
            <a:off x="5491725" y="80440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3" name="Google Shape;703;p113"/>
          <p:cNvSpPr txBox="1"/>
          <p:nvPr/>
        </p:nvSpPr>
        <p:spPr>
          <a:xfrm>
            <a:off x="6855375" y="7382225"/>
            <a:ext cx="38316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Connects using default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connection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14"/>
          <p:cNvSpPr/>
          <p:nvPr/>
        </p:nvSpPr>
        <p:spPr>
          <a:xfrm>
            <a:off x="2804575" y="3112075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RubyMine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0" name="Google Shape;710;p114"/>
          <p:cNvSpPr/>
          <p:nvPr/>
        </p:nvSpPr>
        <p:spPr>
          <a:xfrm>
            <a:off x="9728350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Main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114"/>
          <p:cNvSpPr/>
          <p:nvPr/>
        </p:nvSpPr>
        <p:spPr>
          <a:xfrm>
            <a:off x="16652125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Child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12" name="Google Shape;712;p114"/>
          <p:cNvCxnSpPr>
            <a:stCxn id="709" idx="2"/>
          </p:cNvCxnSpPr>
          <p:nvPr/>
        </p:nvCxnSpPr>
        <p:spPr>
          <a:xfrm>
            <a:off x="5265175" y="5519875"/>
            <a:ext cx="0" cy="694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14"/>
          <p:cNvCxnSpPr>
            <a:stCxn id="710" idx="2"/>
            <a:endCxn id="714" idx="2"/>
          </p:cNvCxnSpPr>
          <p:nvPr/>
        </p:nvCxnSpPr>
        <p:spPr>
          <a:xfrm>
            <a:off x="12188950" y="5452750"/>
            <a:ext cx="26100" cy="70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114"/>
          <p:cNvCxnSpPr>
            <a:stCxn id="711" idx="2"/>
          </p:cNvCxnSpPr>
          <p:nvPr/>
        </p:nvCxnSpPr>
        <p:spPr>
          <a:xfrm>
            <a:off x="19112725" y="5452750"/>
            <a:ext cx="0" cy="70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716" name="Google Shape;716;p114"/>
          <p:cNvSpPr/>
          <p:nvPr/>
        </p:nvSpPr>
        <p:spPr>
          <a:xfrm>
            <a:off x="11977300" y="6720425"/>
            <a:ext cx="423300" cy="579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114"/>
          <p:cNvSpPr/>
          <p:nvPr/>
        </p:nvSpPr>
        <p:spPr>
          <a:xfrm>
            <a:off x="18897900" y="8705825"/>
            <a:ext cx="423300" cy="380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114"/>
          <p:cNvSpPr/>
          <p:nvPr/>
        </p:nvSpPr>
        <p:spPr>
          <a:xfrm>
            <a:off x="5056708" y="6111875"/>
            <a:ext cx="423300" cy="640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19" name="Google Shape;719;p114"/>
          <p:cNvCxnSpPr/>
          <p:nvPr/>
        </p:nvCxnSpPr>
        <p:spPr>
          <a:xfrm>
            <a:off x="5492375" y="6720425"/>
            <a:ext cx="657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114"/>
          <p:cNvSpPr txBox="1"/>
          <p:nvPr/>
        </p:nvSpPr>
        <p:spPr>
          <a:xfrm>
            <a:off x="6373525" y="6478300"/>
            <a:ext cx="45984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main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21" name="Google Shape;721;p114"/>
          <p:cNvCxnSpPr/>
          <p:nvPr/>
        </p:nvCxnSpPr>
        <p:spPr>
          <a:xfrm>
            <a:off x="5491725" y="80440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114"/>
          <p:cNvSpPr txBox="1"/>
          <p:nvPr/>
        </p:nvSpPr>
        <p:spPr>
          <a:xfrm>
            <a:off x="6855375" y="7382225"/>
            <a:ext cx="38316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Connects using default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23" name="Google Shape;723;p114"/>
          <p:cNvCxnSpPr/>
          <p:nvPr/>
        </p:nvCxnSpPr>
        <p:spPr>
          <a:xfrm>
            <a:off x="12384438" y="87058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4" name="Google Shape;724;p114"/>
          <p:cNvSpPr txBox="1"/>
          <p:nvPr/>
        </p:nvSpPr>
        <p:spPr>
          <a:xfrm>
            <a:off x="13141900" y="8473025"/>
            <a:ext cx="47427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child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1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connection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15"/>
          <p:cNvSpPr/>
          <p:nvPr/>
        </p:nvSpPr>
        <p:spPr>
          <a:xfrm>
            <a:off x="2804575" y="3112075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RubyMine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115"/>
          <p:cNvSpPr/>
          <p:nvPr/>
        </p:nvSpPr>
        <p:spPr>
          <a:xfrm>
            <a:off x="9728350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Main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115"/>
          <p:cNvSpPr/>
          <p:nvPr/>
        </p:nvSpPr>
        <p:spPr>
          <a:xfrm>
            <a:off x="16652125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Child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33" name="Google Shape;733;p115"/>
          <p:cNvCxnSpPr>
            <a:stCxn id="730" idx="2"/>
          </p:cNvCxnSpPr>
          <p:nvPr/>
        </p:nvCxnSpPr>
        <p:spPr>
          <a:xfrm>
            <a:off x="5265175" y="5519875"/>
            <a:ext cx="0" cy="694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115"/>
          <p:cNvCxnSpPr>
            <a:stCxn id="731" idx="2"/>
            <a:endCxn id="735" idx="2"/>
          </p:cNvCxnSpPr>
          <p:nvPr/>
        </p:nvCxnSpPr>
        <p:spPr>
          <a:xfrm>
            <a:off x="12188950" y="5452750"/>
            <a:ext cx="26100" cy="70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115"/>
          <p:cNvCxnSpPr>
            <a:stCxn id="732" idx="2"/>
          </p:cNvCxnSpPr>
          <p:nvPr/>
        </p:nvCxnSpPr>
        <p:spPr>
          <a:xfrm>
            <a:off x="19112725" y="5452750"/>
            <a:ext cx="0" cy="70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737" name="Google Shape;737;p115"/>
          <p:cNvSpPr/>
          <p:nvPr/>
        </p:nvSpPr>
        <p:spPr>
          <a:xfrm>
            <a:off x="11977300" y="6720425"/>
            <a:ext cx="423300" cy="579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8" name="Google Shape;738;p115"/>
          <p:cNvSpPr/>
          <p:nvPr/>
        </p:nvSpPr>
        <p:spPr>
          <a:xfrm>
            <a:off x="18897900" y="8705825"/>
            <a:ext cx="423300" cy="380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115"/>
          <p:cNvSpPr/>
          <p:nvPr/>
        </p:nvSpPr>
        <p:spPr>
          <a:xfrm>
            <a:off x="5056708" y="6111875"/>
            <a:ext cx="423300" cy="640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40" name="Google Shape;740;p115"/>
          <p:cNvCxnSpPr/>
          <p:nvPr/>
        </p:nvCxnSpPr>
        <p:spPr>
          <a:xfrm>
            <a:off x="5492375" y="6720425"/>
            <a:ext cx="657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1" name="Google Shape;741;p115"/>
          <p:cNvSpPr txBox="1"/>
          <p:nvPr/>
        </p:nvSpPr>
        <p:spPr>
          <a:xfrm>
            <a:off x="6373525" y="6478300"/>
            <a:ext cx="45984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main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42" name="Google Shape;742;p115"/>
          <p:cNvCxnSpPr/>
          <p:nvPr/>
        </p:nvCxnSpPr>
        <p:spPr>
          <a:xfrm>
            <a:off x="5491725" y="80440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3" name="Google Shape;743;p115"/>
          <p:cNvSpPr txBox="1"/>
          <p:nvPr/>
        </p:nvSpPr>
        <p:spPr>
          <a:xfrm>
            <a:off x="6855375" y="7382225"/>
            <a:ext cx="38316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Connects using default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44" name="Google Shape;744;p115"/>
          <p:cNvCxnSpPr/>
          <p:nvPr/>
        </p:nvCxnSpPr>
        <p:spPr>
          <a:xfrm>
            <a:off x="12384438" y="87058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115"/>
          <p:cNvSpPr txBox="1"/>
          <p:nvPr/>
        </p:nvSpPr>
        <p:spPr>
          <a:xfrm>
            <a:off x="13141900" y="8473025"/>
            <a:ext cx="47427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child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46" name="Google Shape;746;p115"/>
          <p:cNvCxnSpPr/>
          <p:nvPr/>
        </p:nvCxnSpPr>
        <p:spPr>
          <a:xfrm>
            <a:off x="5482825" y="10211800"/>
            <a:ext cx="13460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47" name="Google Shape;747;p115"/>
          <p:cNvSpPr txBox="1"/>
          <p:nvPr/>
        </p:nvSpPr>
        <p:spPr>
          <a:xfrm>
            <a:off x="8965150" y="9964300"/>
            <a:ext cx="6447600" cy="49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Sends new connection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1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connection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16"/>
          <p:cNvSpPr/>
          <p:nvPr/>
        </p:nvSpPr>
        <p:spPr>
          <a:xfrm>
            <a:off x="2804575" y="3112075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RubyMine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116"/>
          <p:cNvSpPr/>
          <p:nvPr/>
        </p:nvSpPr>
        <p:spPr>
          <a:xfrm>
            <a:off x="9728350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Main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Google Shape;755;p116"/>
          <p:cNvSpPr/>
          <p:nvPr/>
        </p:nvSpPr>
        <p:spPr>
          <a:xfrm>
            <a:off x="16652125" y="3044950"/>
            <a:ext cx="4921200" cy="2407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Inter"/>
                <a:ea typeface="Inter"/>
                <a:cs typeface="Inter"/>
                <a:sym typeface="Inter"/>
              </a:rPr>
              <a:t>Child debug process</a:t>
            </a:r>
            <a:endParaRPr b="1" sz="45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6" name="Google Shape;756;p116"/>
          <p:cNvCxnSpPr>
            <a:stCxn id="753" idx="2"/>
          </p:cNvCxnSpPr>
          <p:nvPr/>
        </p:nvCxnSpPr>
        <p:spPr>
          <a:xfrm>
            <a:off x="5265175" y="5519875"/>
            <a:ext cx="0" cy="694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116"/>
          <p:cNvCxnSpPr>
            <a:stCxn id="754" idx="2"/>
            <a:endCxn id="758" idx="2"/>
          </p:cNvCxnSpPr>
          <p:nvPr/>
        </p:nvCxnSpPr>
        <p:spPr>
          <a:xfrm>
            <a:off x="12188950" y="5452750"/>
            <a:ext cx="26100" cy="70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116"/>
          <p:cNvCxnSpPr>
            <a:stCxn id="755" idx="2"/>
          </p:cNvCxnSpPr>
          <p:nvPr/>
        </p:nvCxnSpPr>
        <p:spPr>
          <a:xfrm>
            <a:off x="19112725" y="5452750"/>
            <a:ext cx="0" cy="70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760" name="Google Shape;760;p116"/>
          <p:cNvSpPr/>
          <p:nvPr/>
        </p:nvSpPr>
        <p:spPr>
          <a:xfrm>
            <a:off x="11977300" y="6720425"/>
            <a:ext cx="423300" cy="5794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p116"/>
          <p:cNvSpPr/>
          <p:nvPr/>
        </p:nvSpPr>
        <p:spPr>
          <a:xfrm>
            <a:off x="18897900" y="8705825"/>
            <a:ext cx="423300" cy="380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Google Shape;762;p116"/>
          <p:cNvSpPr/>
          <p:nvPr/>
        </p:nvSpPr>
        <p:spPr>
          <a:xfrm>
            <a:off x="5056708" y="6111875"/>
            <a:ext cx="423300" cy="640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63" name="Google Shape;763;p116"/>
          <p:cNvCxnSpPr/>
          <p:nvPr/>
        </p:nvCxnSpPr>
        <p:spPr>
          <a:xfrm>
            <a:off x="5492375" y="6720425"/>
            <a:ext cx="6577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4" name="Google Shape;764;p116"/>
          <p:cNvSpPr txBox="1"/>
          <p:nvPr/>
        </p:nvSpPr>
        <p:spPr>
          <a:xfrm>
            <a:off x="6373525" y="6478300"/>
            <a:ext cx="45984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main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65" name="Google Shape;765;p116"/>
          <p:cNvCxnSpPr/>
          <p:nvPr/>
        </p:nvCxnSpPr>
        <p:spPr>
          <a:xfrm>
            <a:off x="5491725" y="80440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116"/>
          <p:cNvSpPr txBox="1"/>
          <p:nvPr/>
        </p:nvSpPr>
        <p:spPr>
          <a:xfrm>
            <a:off x="6855375" y="7382225"/>
            <a:ext cx="38316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Connects using default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67" name="Google Shape;767;p116"/>
          <p:cNvCxnSpPr/>
          <p:nvPr/>
        </p:nvCxnSpPr>
        <p:spPr>
          <a:xfrm>
            <a:off x="12384438" y="8705825"/>
            <a:ext cx="655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116"/>
          <p:cNvSpPr txBox="1"/>
          <p:nvPr/>
        </p:nvSpPr>
        <p:spPr>
          <a:xfrm>
            <a:off x="13141900" y="8473025"/>
            <a:ext cx="47427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Starts child process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69" name="Google Shape;769;p116"/>
          <p:cNvCxnSpPr/>
          <p:nvPr/>
        </p:nvCxnSpPr>
        <p:spPr>
          <a:xfrm>
            <a:off x="5482825" y="10211800"/>
            <a:ext cx="13460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70" name="Google Shape;770;p116"/>
          <p:cNvSpPr txBox="1"/>
          <p:nvPr/>
        </p:nvSpPr>
        <p:spPr>
          <a:xfrm>
            <a:off x="8965150" y="9964300"/>
            <a:ext cx="6447600" cy="49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Sends new connection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1" name="Google Shape;771;p116"/>
          <p:cNvCxnSpPr/>
          <p:nvPr/>
        </p:nvCxnSpPr>
        <p:spPr>
          <a:xfrm>
            <a:off x="5458588" y="11301975"/>
            <a:ext cx="13460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116"/>
          <p:cNvSpPr txBox="1"/>
          <p:nvPr/>
        </p:nvSpPr>
        <p:spPr>
          <a:xfrm>
            <a:off x="9230038" y="11039150"/>
            <a:ext cx="5917800" cy="4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Connects using new port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17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8" name="Google Shape;778;p117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9" name="Google Shape;779;p117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0" name="Google Shape;780;p117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1" name="Google Shape;781;p117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 simplify debugging</a:t>
            </a:r>
            <a:r>
              <a:rPr lang="en" sz="5000">
                <a:solidFill>
                  <a:srgbClr val="9E9E9E"/>
                </a:solidFill>
                <a:latin typeface="Inter Medium"/>
                <a:ea typeface="Inter Medium"/>
                <a:cs typeface="Inter Medium"/>
                <a:sym typeface="Inter Medium"/>
              </a:rPr>
              <a:t>?</a:t>
            </a:r>
            <a:endParaRPr sz="5000">
              <a:solidFill>
                <a:srgbClr val="9E9E9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1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21347" r="-21347" t="0"/>
          <a:stretch/>
        </p:blipFill>
        <p:spPr>
          <a:xfrm>
            <a:off x="1097000" y="3044950"/>
            <a:ext cx="22236292" cy="9479301"/>
          </a:xfrm>
          <a:prstGeom prst="rect">
            <a:avLst/>
          </a:prstGeom>
        </p:spPr>
      </p:pic>
      <p:sp>
        <p:nvSpPr>
          <p:cNvPr id="787" name="Google Shape;787;p118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methodology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Byebug version –</a:t>
            </a:r>
            <a:r>
              <a:rPr lang="en" sz="4000"/>
              <a:t> </a:t>
            </a:r>
            <a:r>
              <a:rPr lang="en" sz="4000"/>
              <a:t>11.1.3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Debug gem version –</a:t>
            </a:r>
            <a:r>
              <a:rPr lang="en" sz="4000"/>
              <a:t> </a:t>
            </a:r>
            <a:r>
              <a:rPr lang="en" sz="4000"/>
              <a:t>1.9.2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RubyMine debugger for Ruby 3.3.3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ruby-debug-ide –</a:t>
            </a:r>
            <a:r>
              <a:rPr lang="en" sz="4000"/>
              <a:t> </a:t>
            </a:r>
            <a:r>
              <a:rPr lang="en" sz="4000"/>
              <a:t>3.0.0.beta.17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debase –</a:t>
            </a:r>
            <a:r>
              <a:rPr lang="en" sz="4000"/>
              <a:t> </a:t>
            </a:r>
            <a:r>
              <a:rPr lang="en" sz="4000"/>
              <a:t>3.0.0.beta.11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RubyMine debugger for Ruby 2.6.10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ruby-debug-ide –</a:t>
            </a:r>
            <a:r>
              <a:rPr lang="en" sz="4000"/>
              <a:t> </a:t>
            </a:r>
            <a:r>
              <a:rPr lang="en" sz="4000"/>
              <a:t>2.3.20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1600"/>
              </a:spcAft>
              <a:buSzPts val="4000"/>
              <a:buChar char="○"/>
            </a:pPr>
            <a:r>
              <a:rPr lang="en" sz="4000"/>
              <a:t>debase –</a:t>
            </a:r>
            <a:r>
              <a:rPr lang="en" sz="4000"/>
              <a:t> </a:t>
            </a:r>
            <a:r>
              <a:rPr lang="en" sz="4000"/>
              <a:t> 2.3.14</a:t>
            </a:r>
            <a:endParaRPr sz="4000"/>
          </a:p>
        </p:txBody>
      </p:sp>
      <p:sp>
        <p:nvSpPr>
          <p:cNvPr id="793" name="Google Shape;793;p11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versions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0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p</a:t>
            </a:r>
            <a:r>
              <a:rPr lang="en"/>
              <a:t>erformance</a:t>
            </a:r>
            <a:endParaRPr/>
          </a:p>
        </p:txBody>
      </p:sp>
      <p:graphicFrame>
        <p:nvGraphicFramePr>
          <p:cNvPr id="799" name="Google Shape;799;p120"/>
          <p:cNvGraphicFramePr/>
          <p:nvPr/>
        </p:nvGraphicFramePr>
        <p:xfrm>
          <a:off x="1097001" y="4315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{F3186636-BD3D-4CD2-8905-DB70D609EE90}</a:tableStyleId>
              </a:tblPr>
              <a:tblGrid>
                <a:gridCol w="5662125"/>
                <a:gridCol w="8271200"/>
                <a:gridCol w="8271175"/>
              </a:tblGrid>
              <a:tr h="106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2.6.10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3.3.3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run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Byebug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529.1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Debug gem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RubyMine debugger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0" name="Google Shape;800;p120"/>
          <p:cNvSpPr/>
          <p:nvPr/>
        </p:nvSpPr>
        <p:spPr>
          <a:xfrm>
            <a:off x="10496534" y="8655287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1" name="Google Shape;801;p120"/>
          <p:cNvSpPr/>
          <p:nvPr/>
        </p:nvSpPr>
        <p:spPr>
          <a:xfrm>
            <a:off x="19035884" y="7279600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1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performance</a:t>
            </a:r>
            <a:endParaRPr/>
          </a:p>
        </p:txBody>
      </p:sp>
      <p:graphicFrame>
        <p:nvGraphicFramePr>
          <p:cNvPr id="807" name="Google Shape;807;p121"/>
          <p:cNvGraphicFramePr/>
          <p:nvPr/>
        </p:nvGraphicFramePr>
        <p:xfrm>
          <a:off x="1097001" y="4315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{F3186636-BD3D-4CD2-8905-DB70D609EE90}</a:tableStyleId>
              </a:tblPr>
              <a:tblGrid>
                <a:gridCol w="5662125"/>
                <a:gridCol w="8271200"/>
                <a:gridCol w="8271175"/>
              </a:tblGrid>
              <a:tr h="106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2.6.10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3.3.3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run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Byebug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700">
                          <a:solidFill>
                            <a:srgbClr val="FF318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529.1 sec</a:t>
                      </a:r>
                      <a:endParaRPr b="1" sz="3700">
                        <a:solidFill>
                          <a:srgbClr val="FF318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Debug gem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RubyMine debugger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8" name="Google Shape;808;p121"/>
          <p:cNvSpPr/>
          <p:nvPr/>
        </p:nvSpPr>
        <p:spPr>
          <a:xfrm>
            <a:off x="10496534" y="8655287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9" name="Google Shape;809;p121"/>
          <p:cNvSpPr/>
          <p:nvPr/>
        </p:nvSpPr>
        <p:spPr>
          <a:xfrm>
            <a:off x="19035884" y="7279600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22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performance</a:t>
            </a:r>
            <a:endParaRPr/>
          </a:p>
        </p:txBody>
      </p:sp>
      <p:graphicFrame>
        <p:nvGraphicFramePr>
          <p:cNvPr id="815" name="Google Shape;815;p122"/>
          <p:cNvGraphicFramePr/>
          <p:nvPr/>
        </p:nvGraphicFramePr>
        <p:xfrm>
          <a:off x="1097001" y="4315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{F3186636-BD3D-4CD2-8905-DB70D609EE90}</a:tableStyleId>
              </a:tblPr>
              <a:tblGrid>
                <a:gridCol w="5662125"/>
                <a:gridCol w="8271200"/>
                <a:gridCol w="8271175"/>
              </a:tblGrid>
              <a:tr h="106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2.6.10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3.3.3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run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Byebug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529.1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Debug gem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RubyMine debugger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700">
                          <a:solidFill>
                            <a:srgbClr val="FF318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b="1" sz="3700">
                        <a:solidFill>
                          <a:srgbClr val="FF318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6" name="Google Shape;816;p122"/>
          <p:cNvSpPr/>
          <p:nvPr/>
        </p:nvSpPr>
        <p:spPr>
          <a:xfrm>
            <a:off x="10496534" y="8655287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7" name="Google Shape;817;p122"/>
          <p:cNvSpPr/>
          <p:nvPr/>
        </p:nvSpPr>
        <p:spPr>
          <a:xfrm>
            <a:off x="19035884" y="7279600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23"/>
          <p:cNvSpPr txBox="1"/>
          <p:nvPr>
            <p:ph type="title"/>
          </p:nvPr>
        </p:nvSpPr>
        <p:spPr>
          <a:xfrm>
            <a:off x="1096992" y="768096"/>
            <a:ext cx="222045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performance</a:t>
            </a:r>
            <a:endParaRPr/>
          </a:p>
        </p:txBody>
      </p:sp>
      <p:graphicFrame>
        <p:nvGraphicFramePr>
          <p:cNvPr id="823" name="Google Shape;823;p123"/>
          <p:cNvGraphicFramePr/>
          <p:nvPr/>
        </p:nvGraphicFramePr>
        <p:xfrm>
          <a:off x="1097001" y="4315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{F3186636-BD3D-4CD2-8905-DB70D609EE90}</a:tableStyleId>
              </a:tblPr>
              <a:tblGrid>
                <a:gridCol w="5662125"/>
                <a:gridCol w="8271200"/>
                <a:gridCol w="8271175"/>
              </a:tblGrid>
              <a:tr h="106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2.6.10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37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 3.3.3</a:t>
                      </a:r>
                      <a:endParaRPr b="1" sz="37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run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Byebug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529.1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Debug gem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700">
                          <a:solidFill>
                            <a:srgbClr val="FF318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b="1" sz="3700">
                        <a:solidFill>
                          <a:srgbClr val="FF318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RubyMine debugger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17.7 sec</a:t>
                      </a:r>
                      <a:endParaRPr sz="3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700">
                          <a:solidFill>
                            <a:srgbClr val="FF318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15.8 sec</a:t>
                      </a:r>
                      <a:endParaRPr b="1" sz="3700">
                        <a:solidFill>
                          <a:srgbClr val="FF318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4" name="Google Shape;824;p123"/>
          <p:cNvSpPr/>
          <p:nvPr/>
        </p:nvSpPr>
        <p:spPr>
          <a:xfrm>
            <a:off x="10496534" y="8655287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5" name="Google Shape;825;p123"/>
          <p:cNvSpPr/>
          <p:nvPr/>
        </p:nvSpPr>
        <p:spPr>
          <a:xfrm>
            <a:off x="19035884" y="7279600"/>
            <a:ext cx="361637" cy="361734"/>
          </a:xfrm>
          <a:custGeom>
            <a:rect b="b" l="l" r="r" t="t"/>
            <a:pathLst>
              <a:path extrusionOk="0" h="5505" w="5505">
                <a:moveTo>
                  <a:pt x="5504" y="488"/>
                </a:moveTo>
                <a:lnTo>
                  <a:pt x="5017" y="0"/>
                </a:lnTo>
                <a:lnTo>
                  <a:pt x="2752" y="2236"/>
                </a:lnTo>
                <a:lnTo>
                  <a:pt x="488" y="0"/>
                </a:lnTo>
                <a:lnTo>
                  <a:pt x="0" y="488"/>
                </a:lnTo>
                <a:lnTo>
                  <a:pt x="2236" y="2752"/>
                </a:lnTo>
                <a:lnTo>
                  <a:pt x="0" y="4988"/>
                </a:lnTo>
                <a:lnTo>
                  <a:pt x="488" y="5504"/>
                </a:lnTo>
                <a:lnTo>
                  <a:pt x="2752" y="3240"/>
                </a:lnTo>
                <a:lnTo>
                  <a:pt x="5017" y="5504"/>
                </a:lnTo>
                <a:lnTo>
                  <a:pt x="5504" y="4988"/>
                </a:lnTo>
                <a:lnTo>
                  <a:pt x="3268" y="2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24"/>
          <p:cNvSpPr txBox="1"/>
          <p:nvPr/>
        </p:nvSpPr>
        <p:spPr>
          <a:xfrm>
            <a:off x="1114385" y="2002967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tools do we have to find bugs in Ruby code?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1" name="Google Shape;831;p124"/>
          <p:cNvSpPr txBox="1"/>
          <p:nvPr/>
        </p:nvSpPr>
        <p:spPr>
          <a:xfrm>
            <a:off x="1114385" y="4167698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What technologies do Ruby debuggers use?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2" name="Google Shape;832;p124"/>
          <p:cNvSpPr txBox="1"/>
          <p:nvPr/>
        </p:nvSpPr>
        <p:spPr>
          <a:xfrm>
            <a:off x="1114385" y="6332429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How do Ruby debuggers work?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3" name="Google Shape;833;p124"/>
          <p:cNvSpPr txBox="1"/>
          <p:nvPr/>
        </p:nvSpPr>
        <p:spPr>
          <a:xfrm>
            <a:off x="1114385" y="8497161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Which debugger is the most performant?</a:t>
            </a:r>
            <a:endParaRPr sz="5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4" name="Google Shape;834;p124"/>
          <p:cNvSpPr txBox="1"/>
          <p:nvPr/>
        </p:nvSpPr>
        <p:spPr>
          <a:xfrm>
            <a:off x="1114385" y="10661892"/>
            <a:ext cx="22204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>
                <a:solidFill>
                  <a:srgbClr val="FF318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the RubyMine debugger simplify debugging?</a:t>
            </a:r>
            <a:endParaRPr sz="5000">
              <a:solidFill>
                <a:srgbClr val="FF31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25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Rails </a:t>
            </a:r>
            <a:r>
              <a:rPr lang="en"/>
              <a:t>applications </a:t>
            </a:r>
            <a:r>
              <a:rPr lang="en"/>
              <a:t>in one click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126"/>
          <p:cNvPicPr preferRelativeResize="0"/>
          <p:nvPr/>
        </p:nvPicPr>
        <p:blipFill rotWithShape="1">
          <a:blip r:embed="rId3">
            <a:alphaModFix/>
          </a:blip>
          <a:srcRect b="0" l="0" r="-674" t="2524"/>
          <a:stretch/>
        </p:blipFill>
        <p:spPr>
          <a:xfrm>
            <a:off x="1079000" y="551825"/>
            <a:ext cx="21937050" cy="12612349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127"/>
          <p:cNvPicPr preferRelativeResize="0"/>
          <p:nvPr/>
        </p:nvPicPr>
        <p:blipFill rotWithShape="1">
          <a:blip r:embed="rId3">
            <a:alphaModFix/>
          </a:blip>
          <a:srcRect b="0" l="0" r="-674" t="2524"/>
          <a:stretch/>
        </p:blipFill>
        <p:spPr>
          <a:xfrm>
            <a:off x="1079000" y="551825"/>
            <a:ext cx="21937050" cy="12612349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  <p:cxnSp>
        <p:nvCxnSpPr>
          <p:cNvPr id="850" name="Google Shape;850;p127"/>
          <p:cNvCxnSpPr/>
          <p:nvPr/>
        </p:nvCxnSpPr>
        <p:spPr>
          <a:xfrm>
            <a:off x="8679375" y="2611750"/>
            <a:ext cx="16782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127"/>
          <p:cNvCxnSpPr/>
          <p:nvPr/>
        </p:nvCxnSpPr>
        <p:spPr>
          <a:xfrm>
            <a:off x="8679375" y="4094600"/>
            <a:ext cx="12513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128"/>
          <p:cNvPicPr preferRelativeResize="0"/>
          <p:nvPr/>
        </p:nvPicPr>
        <p:blipFill rotWithShape="1">
          <a:blip r:embed="rId3">
            <a:alphaModFix/>
          </a:blip>
          <a:srcRect b="1578" l="0" r="0" t="1588"/>
          <a:stretch/>
        </p:blipFill>
        <p:spPr>
          <a:xfrm>
            <a:off x="1079000" y="399425"/>
            <a:ext cx="21937050" cy="12612349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129"/>
          <p:cNvPicPr preferRelativeResize="0"/>
          <p:nvPr/>
        </p:nvPicPr>
        <p:blipFill rotWithShape="1">
          <a:blip r:embed="rId3">
            <a:alphaModFix/>
          </a:blip>
          <a:srcRect b="1578" l="0" r="0" t="1588"/>
          <a:stretch/>
        </p:blipFill>
        <p:spPr>
          <a:xfrm>
            <a:off x="1079000" y="551825"/>
            <a:ext cx="21937050" cy="12612349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  <p:cxnSp>
        <p:nvCxnSpPr>
          <p:cNvPr id="862" name="Google Shape;862;p129"/>
          <p:cNvCxnSpPr/>
          <p:nvPr/>
        </p:nvCxnSpPr>
        <p:spPr>
          <a:xfrm>
            <a:off x="6015100" y="3632700"/>
            <a:ext cx="18876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130"/>
          <p:cNvPicPr preferRelativeResize="0"/>
          <p:nvPr/>
        </p:nvPicPr>
        <p:blipFill rotWithShape="1">
          <a:blip r:embed="rId3">
            <a:alphaModFix/>
          </a:blip>
          <a:srcRect b="1550" l="0" r="0" t="1540"/>
          <a:stretch/>
        </p:blipFill>
        <p:spPr>
          <a:xfrm>
            <a:off x="1079000" y="551825"/>
            <a:ext cx="21937050" cy="12612350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  <p:cxnSp>
        <p:nvCxnSpPr>
          <p:cNvPr id="868" name="Google Shape;868;p130"/>
          <p:cNvCxnSpPr/>
          <p:nvPr/>
        </p:nvCxnSpPr>
        <p:spPr>
          <a:xfrm flipH="1" rot="10800000">
            <a:off x="16975925" y="1602400"/>
            <a:ext cx="1543500" cy="89100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131"/>
          <p:cNvPicPr preferRelativeResize="0"/>
          <p:nvPr/>
        </p:nvPicPr>
        <p:blipFill rotWithShape="1">
          <a:blip r:embed="rId3">
            <a:alphaModFix/>
          </a:blip>
          <a:srcRect b="1578" l="0" r="0" t="1588"/>
          <a:stretch/>
        </p:blipFill>
        <p:spPr>
          <a:xfrm>
            <a:off x="1079000" y="551825"/>
            <a:ext cx="21937050" cy="12612349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95250">
              <a:srgbClr val="000000">
                <a:alpha val="51000"/>
              </a:srgbClr>
            </a:outerShdw>
          </a:effec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32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debugger values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1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0974" l="-30" r="-30" t="-3822"/>
          <a:stretch/>
        </p:blipFill>
        <p:spPr>
          <a:xfrm>
            <a:off x="1097000" y="3044950"/>
            <a:ext cx="22236293" cy="9479299"/>
          </a:xfrm>
          <a:prstGeom prst="rect">
            <a:avLst/>
          </a:prstGeom>
        </p:spPr>
      </p:pic>
      <p:sp>
        <p:nvSpPr>
          <p:cNvPr id="884" name="Google Shape;884;p13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debugger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1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86" l="-14381" r="-14368" t="-596"/>
          <a:stretch/>
        </p:blipFill>
        <p:spPr>
          <a:xfrm>
            <a:off x="1097000" y="3044950"/>
            <a:ext cx="22236293" cy="9479299"/>
          </a:xfrm>
          <a:prstGeom prst="rect">
            <a:avLst/>
          </a:prstGeom>
        </p:spPr>
      </p:pic>
      <p:sp>
        <p:nvSpPr>
          <p:cNvPr id="890" name="Google Shape;890;p13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debugger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1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86" l="-14381" r="-14368" t="-596"/>
          <a:stretch/>
        </p:blipFill>
        <p:spPr>
          <a:xfrm>
            <a:off x="1097000" y="3044950"/>
            <a:ext cx="22236293" cy="9479299"/>
          </a:xfrm>
          <a:prstGeom prst="rect">
            <a:avLst/>
          </a:prstGeom>
        </p:spPr>
      </p:pic>
      <p:sp>
        <p:nvSpPr>
          <p:cNvPr id="896" name="Google Shape;896;p13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debugger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35"/>
          <p:cNvSpPr/>
          <p:nvPr/>
        </p:nvSpPr>
        <p:spPr>
          <a:xfrm>
            <a:off x="7930125" y="10123075"/>
            <a:ext cx="7066200" cy="2303700"/>
          </a:xfrm>
          <a:prstGeom prst="rect">
            <a:avLst/>
          </a:prstGeom>
          <a:noFill/>
          <a:ln cap="flat" cmpd="sng" w="381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1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86" l="-14381" r="-14368" t="-596"/>
          <a:stretch/>
        </p:blipFill>
        <p:spPr>
          <a:xfrm>
            <a:off x="1097000" y="3044950"/>
            <a:ext cx="22236293" cy="9479299"/>
          </a:xfrm>
          <a:prstGeom prst="rect">
            <a:avLst/>
          </a:prstGeom>
        </p:spPr>
      </p:pic>
      <p:sp>
        <p:nvSpPr>
          <p:cNvPr id="903" name="Google Shape;903;p13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debugger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4" name="Google Shape;904;p136"/>
          <p:cNvCxnSpPr/>
          <p:nvPr/>
        </p:nvCxnSpPr>
        <p:spPr>
          <a:xfrm>
            <a:off x="9977425" y="3530600"/>
            <a:ext cx="71694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136"/>
          <p:cNvCxnSpPr/>
          <p:nvPr/>
        </p:nvCxnSpPr>
        <p:spPr>
          <a:xfrm>
            <a:off x="7689025" y="3933050"/>
            <a:ext cx="19671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136"/>
          <p:cNvCxnSpPr/>
          <p:nvPr/>
        </p:nvCxnSpPr>
        <p:spPr>
          <a:xfrm>
            <a:off x="8758225" y="4835550"/>
            <a:ext cx="119349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136"/>
          <p:cNvCxnSpPr/>
          <p:nvPr/>
        </p:nvCxnSpPr>
        <p:spPr>
          <a:xfrm>
            <a:off x="9067775" y="4315975"/>
            <a:ext cx="15525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37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Ruby debuggers use 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TracePoint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Instruction Sequence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Debug gem works fast due to TracePoint improvements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RubyMine d</a:t>
            </a:r>
            <a:r>
              <a:rPr lang="en" sz="4000">
                <a:solidFill>
                  <a:srgbClr val="9E9E9E"/>
                </a:solidFill>
              </a:rPr>
              <a:t>ebugger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Works fast with all supported Ruby versions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Enables on-click debugging for Rails applications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Provides inline debugger values to help you debug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913" name="Google Shape;913;p137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</a:t>
            </a:r>
            <a:r>
              <a:rPr lang="en"/>
              <a:t>ints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38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 debuggers use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TracePoint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Instruction Sequence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Debug gem works fast due to TracePoint improvements</a:t>
            </a:r>
            <a:endParaRPr sz="4000">
              <a:solidFill>
                <a:srgbClr val="9E9E9E"/>
              </a:solidFill>
            </a:endParaRPr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RubyMine debugger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Works fast with all </a:t>
            </a:r>
            <a:r>
              <a:rPr lang="en" sz="4000">
                <a:solidFill>
                  <a:srgbClr val="9E9E9E"/>
                </a:solidFill>
              </a:rPr>
              <a:t>supported </a:t>
            </a:r>
            <a:r>
              <a:rPr lang="en" sz="4000">
                <a:solidFill>
                  <a:srgbClr val="9E9E9E"/>
                </a:solidFill>
              </a:rPr>
              <a:t>Ruby versions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Enables on-click debugging for Rails applications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Provides inline debugger values to help you debug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919" name="Google Shape;919;p13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39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 debuggers use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TracePoint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Instruction Sequence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Debug gem works fast due to TracePoint improvements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●"/>
            </a:pPr>
            <a:r>
              <a:rPr lang="en" sz="4000">
                <a:solidFill>
                  <a:srgbClr val="9E9E9E"/>
                </a:solidFill>
              </a:rPr>
              <a:t>RubyMine debugger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Works fast with all </a:t>
            </a:r>
            <a:r>
              <a:rPr lang="en" sz="4000">
                <a:solidFill>
                  <a:srgbClr val="9E9E9E"/>
                </a:solidFill>
              </a:rPr>
              <a:t>supported </a:t>
            </a:r>
            <a:r>
              <a:rPr lang="en" sz="4000">
                <a:solidFill>
                  <a:srgbClr val="9E9E9E"/>
                </a:solidFill>
              </a:rPr>
              <a:t>Ruby versions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Enables on-click debugging for Rails applications</a:t>
            </a:r>
            <a:endParaRPr sz="4000">
              <a:solidFill>
                <a:srgbClr val="9E9E9E"/>
              </a:solidFill>
            </a:endParaRPr>
          </a:p>
          <a:p>
            <a:pPr indent="-558800" lvl="1" marL="1219200" rtl="0" algn="l">
              <a:spcBef>
                <a:spcPts val="1600"/>
              </a:spcBef>
              <a:spcAft>
                <a:spcPts val="1600"/>
              </a:spcAft>
              <a:buClr>
                <a:srgbClr val="9E9E9E"/>
              </a:buClr>
              <a:buSzPts val="4000"/>
              <a:buChar char="○"/>
            </a:pPr>
            <a:r>
              <a:rPr lang="en" sz="4000">
                <a:solidFill>
                  <a:srgbClr val="9E9E9E"/>
                </a:solidFill>
              </a:rPr>
              <a:t>Provides inline debugger values to help you debug</a:t>
            </a:r>
            <a:endParaRPr sz="4000">
              <a:solidFill>
                <a:srgbClr val="9E9E9E"/>
              </a:solidFill>
            </a:endParaRPr>
          </a:p>
        </p:txBody>
      </p:sp>
      <p:sp>
        <p:nvSpPr>
          <p:cNvPr id="925" name="Google Shape;925;p13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40"/>
          <p:cNvSpPr txBox="1"/>
          <p:nvPr>
            <p:ph idx="1" type="body"/>
          </p:nvPr>
        </p:nvSpPr>
        <p:spPr>
          <a:xfrm>
            <a:off x="1097000" y="3044950"/>
            <a:ext cx="22204500" cy="82938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-558800" lvl="0" marL="6096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 debuggers use 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TracePoint</a:t>
            </a:r>
            <a:endParaRPr sz="4000"/>
          </a:p>
          <a:p>
            <a:pPr indent="-558800" lvl="1" marL="1219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Instruction Sequence</a:t>
            </a:r>
            <a:endParaRPr sz="4000"/>
          </a:p>
          <a:p>
            <a:pPr indent="-558800" lvl="0" marL="6096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Debug gem works fast due to TracePoint improvements</a:t>
            </a:r>
            <a:endParaRPr sz="4000"/>
          </a:p>
          <a:p>
            <a:pPr indent="-558800" lvl="0" marL="609600" rtl="0" algn="l">
              <a:spcBef>
                <a:spcPts val="16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RubyMine debugger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Works fast with all supported Ruby versions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0"/>
              </a:spcAft>
              <a:buSzPts val="4000"/>
              <a:buChar char="○"/>
            </a:pPr>
            <a:r>
              <a:rPr lang="en" sz="4000"/>
              <a:t>Enables on-click debugging for Rails applications</a:t>
            </a:r>
            <a:endParaRPr sz="4000"/>
          </a:p>
          <a:p>
            <a:pPr indent="-558800" lvl="1" marL="1219200" rtl="0" algn="l">
              <a:spcBef>
                <a:spcPts val="1600"/>
              </a:spcBef>
              <a:spcAft>
                <a:spcPts val="1600"/>
              </a:spcAft>
              <a:buSzPts val="4000"/>
              <a:buChar char="○"/>
            </a:pPr>
            <a:r>
              <a:rPr lang="en" sz="4000"/>
              <a:t>Provides inline debugger values to help you debug</a:t>
            </a:r>
            <a:endParaRPr sz="4000"/>
          </a:p>
        </p:txBody>
      </p:sp>
      <p:sp>
        <p:nvSpPr>
          <p:cNvPr id="931" name="Google Shape;931;p140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41"/>
          <p:cNvSpPr txBox="1"/>
          <p:nvPr>
            <p:ph type="title"/>
          </p:nvPr>
        </p:nvSpPr>
        <p:spPr>
          <a:xfrm>
            <a:off x="1096996" y="3730775"/>
            <a:ext cx="9325500" cy="5072100"/>
          </a:xfrm>
          <a:prstGeom prst="rect">
            <a:avLst/>
          </a:prstGeom>
        </p:spPr>
        <p:txBody>
          <a:bodyPr anchorCtr="0" anchor="b" bIns="26815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937" name="Google Shape;937;p141"/>
          <p:cNvSpPr txBox="1"/>
          <p:nvPr>
            <p:ph idx="1" type="body"/>
          </p:nvPr>
        </p:nvSpPr>
        <p:spPr>
          <a:xfrm>
            <a:off x="1096998" y="9436600"/>
            <a:ext cx="112401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Dmitry Pogrebnoy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/>
              <a:t>RubyMine Team Lead at JetBrains</a:t>
            </a:r>
            <a:endParaRPr/>
          </a:p>
        </p:txBody>
      </p:sp>
      <p:sp>
        <p:nvSpPr>
          <p:cNvPr id="938" name="Google Shape;938;p141"/>
          <p:cNvSpPr txBox="1"/>
          <p:nvPr>
            <p:ph idx="4294967295" type="body"/>
          </p:nvPr>
        </p:nvSpPr>
        <p:spPr>
          <a:xfrm>
            <a:off x="12719675" y="8941000"/>
            <a:ext cx="9815700" cy="22092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500"/>
              <a:t>Share your RubyMine experience with me on LinkedIn!</a:t>
            </a:r>
            <a:endParaRPr sz="4500"/>
          </a:p>
        </p:txBody>
      </p:sp>
      <p:pic>
        <p:nvPicPr>
          <p:cNvPr id="939" name="Google Shape;93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5400" y="1852925"/>
            <a:ext cx="6984251" cy="69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41"/>
          <p:cNvSpPr/>
          <p:nvPr/>
        </p:nvSpPr>
        <p:spPr>
          <a:xfrm>
            <a:off x="16701125" y="4468975"/>
            <a:ext cx="1852800" cy="17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1" name="Google Shape;941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2025" y="4329550"/>
            <a:ext cx="2031000" cy="2031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42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find </a:t>
            </a:r>
            <a:r>
              <a:rPr lang="en"/>
              <a:t>a bug</a:t>
            </a:r>
            <a:r>
              <a:rPr lang="en"/>
              <a:t> with other tools?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14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-1313" r="-1324" t="0"/>
          <a:stretch/>
        </p:blipFill>
        <p:spPr>
          <a:xfrm>
            <a:off x="1097000" y="3044950"/>
            <a:ext cx="22236303" cy="8897124"/>
          </a:xfrm>
          <a:prstGeom prst="rect">
            <a:avLst/>
          </a:prstGeom>
        </p:spPr>
      </p:pic>
      <p:sp>
        <p:nvSpPr>
          <p:cNvPr id="952" name="Google Shape;952;p14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Puts</a:t>
            </a:r>
            <a:endParaRPr/>
          </a:p>
        </p:txBody>
      </p:sp>
      <p:sp>
        <p:nvSpPr>
          <p:cNvPr id="953" name="Google Shape;953;p143"/>
          <p:cNvSpPr/>
          <p:nvPr/>
        </p:nvSpPr>
        <p:spPr>
          <a:xfrm>
            <a:off x="3531000" y="3685025"/>
            <a:ext cx="19586400" cy="21843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1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26216" l="-87386" r="-87414" t="-17276"/>
          <a:stretch/>
        </p:blipFill>
        <p:spPr>
          <a:xfrm>
            <a:off x="1097000" y="3044950"/>
            <a:ext cx="22236292" cy="9479300"/>
          </a:xfrm>
          <a:prstGeom prst="rect">
            <a:avLst/>
          </a:prstGeom>
        </p:spPr>
      </p:pic>
      <p:sp>
        <p:nvSpPr>
          <p:cNvPr id="959" name="Google Shape;959;p14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Puts output</a:t>
            </a:r>
            <a:endParaRPr/>
          </a:p>
        </p:txBody>
      </p:sp>
      <p:sp>
        <p:nvSpPr>
          <p:cNvPr id="960" name="Google Shape;960;p144"/>
          <p:cNvSpPr/>
          <p:nvPr/>
        </p:nvSpPr>
        <p:spPr>
          <a:xfrm>
            <a:off x="8261300" y="7488925"/>
            <a:ext cx="7905600" cy="17481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45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 Interactive Console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46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-16066" r="-14978" t="1088"/>
          <a:stretch/>
        </p:blipFill>
        <p:spPr>
          <a:xfrm>
            <a:off x="1097000" y="3044950"/>
            <a:ext cx="22236302" cy="8897124"/>
          </a:xfrm>
          <a:prstGeom prst="rect">
            <a:avLst/>
          </a:prstGeom>
        </p:spPr>
      </p:pic>
      <p:sp>
        <p:nvSpPr>
          <p:cNvPr id="971" name="Google Shape;971;p14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IRB Console</a:t>
            </a:r>
            <a:endParaRPr/>
          </a:p>
        </p:txBody>
      </p:sp>
      <p:cxnSp>
        <p:nvCxnSpPr>
          <p:cNvPr id="972" name="Google Shape;972;p146"/>
          <p:cNvCxnSpPr/>
          <p:nvPr/>
        </p:nvCxnSpPr>
        <p:spPr>
          <a:xfrm>
            <a:off x="6201900" y="4593425"/>
            <a:ext cx="32973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1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44732" r="-44732" t="0"/>
          <a:stretch/>
        </p:blipFill>
        <p:spPr>
          <a:xfrm>
            <a:off x="1097000" y="3044950"/>
            <a:ext cx="22236300" cy="9479301"/>
          </a:xfrm>
          <a:prstGeom prst="rect">
            <a:avLst/>
          </a:prstGeom>
        </p:spPr>
      </p:pic>
      <p:sp>
        <p:nvSpPr>
          <p:cNvPr id="978" name="Google Shape;978;p147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IRB Console</a:t>
            </a:r>
            <a:endParaRPr/>
          </a:p>
        </p:txBody>
      </p:sp>
      <p:cxnSp>
        <p:nvCxnSpPr>
          <p:cNvPr id="979" name="Google Shape;979;p147"/>
          <p:cNvCxnSpPr/>
          <p:nvPr/>
        </p:nvCxnSpPr>
        <p:spPr>
          <a:xfrm>
            <a:off x="6392825" y="9447075"/>
            <a:ext cx="66354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147"/>
          <p:cNvCxnSpPr/>
          <p:nvPr/>
        </p:nvCxnSpPr>
        <p:spPr>
          <a:xfrm>
            <a:off x="6392825" y="10462125"/>
            <a:ext cx="7104000" cy="0"/>
          </a:xfrm>
          <a:prstGeom prst="straightConnector1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48"/>
          <p:cNvSpPr txBox="1"/>
          <p:nvPr>
            <p:ph type="title"/>
          </p:nvPr>
        </p:nvSpPr>
        <p:spPr>
          <a:xfrm>
            <a:off x="1096992" y="4337819"/>
            <a:ext cx="22184100" cy="4437900"/>
          </a:xfrm>
          <a:prstGeom prst="rect">
            <a:avLst/>
          </a:prstGeom>
        </p:spPr>
        <p:txBody>
          <a:bodyPr anchorCtr="0" anchor="ctr" bIns="243750" lIns="0" spcFirstLastPara="1" rIns="0" wrap="square" tIns="243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RubyMine </a:t>
            </a:r>
            <a:r>
              <a:rPr lang="en"/>
              <a:t>Debugger </a:t>
            </a:r>
            <a:r>
              <a:rPr lang="en"/>
              <a:t>message protocol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14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-21225" l="-18873" r="-18886" t="-21225"/>
          <a:stretch/>
        </p:blipFill>
        <p:spPr>
          <a:xfrm>
            <a:off x="1097000" y="3044950"/>
            <a:ext cx="22236296" cy="9479301"/>
          </a:xfrm>
          <a:prstGeom prst="rect">
            <a:avLst/>
          </a:prstGeom>
        </p:spPr>
      </p:pic>
      <p:sp>
        <p:nvSpPr>
          <p:cNvPr id="991" name="Google Shape;991;p149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</a:t>
            </a:r>
            <a:r>
              <a:rPr lang="en"/>
              <a:t>Debugger</a:t>
            </a:r>
            <a:r>
              <a:rPr lang="en"/>
              <a:t> message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49"/>
          <p:cNvSpPr txBox="1"/>
          <p:nvPr/>
        </p:nvSpPr>
        <p:spPr>
          <a:xfrm>
            <a:off x="1910800" y="11660375"/>
            <a:ext cx="205563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Setting -&gt; Build, Execution, Deployment -&gt; Debugger -&gt; Ruby -&gt; Verbose debugger output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7" name="Google Shape;997;p1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93" l="-110" r="-120" t="-8493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998" name="Google Shape;998;p150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message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1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93" l="-110" r="-120" t="-8493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1004" name="Google Shape;1004;p151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message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51"/>
          <p:cNvSpPr/>
          <p:nvPr/>
        </p:nvSpPr>
        <p:spPr>
          <a:xfrm>
            <a:off x="1196150" y="3508025"/>
            <a:ext cx="9547200" cy="3350100"/>
          </a:xfrm>
          <a:prstGeom prst="rect">
            <a:avLst/>
          </a:prstGeom>
          <a:noFill/>
          <a:ln cap="flat" cmpd="sng" w="381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1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8493" l="-110" r="-120" t="-8493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1011" name="Google Shape;1011;p152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 Debugger message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52"/>
          <p:cNvSpPr/>
          <p:nvPr/>
        </p:nvSpPr>
        <p:spPr>
          <a:xfrm>
            <a:off x="1196150" y="7084900"/>
            <a:ext cx="22085100" cy="4857300"/>
          </a:xfrm>
          <a:prstGeom prst="rect">
            <a:avLst/>
          </a:prstGeom>
          <a:noFill/>
          <a:ln cap="flat" cmpd="sng" w="381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p15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-12057" l="-120" r="-110" t="-4778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1018" name="Google Shape;1018;p153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</a:t>
            </a:r>
            <a:r>
              <a:rPr lang="en"/>
              <a:t>Breakpoint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154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-6594" l="-9198" r="-9186" t="53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1024" name="Google Shape;1024;p154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Breakpoint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54"/>
          <p:cNvSpPr txBox="1"/>
          <p:nvPr>
            <p:ph idx="4294967295" type="body"/>
          </p:nvPr>
        </p:nvSpPr>
        <p:spPr>
          <a:xfrm>
            <a:off x="5433939" y="11942075"/>
            <a:ext cx="135624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Shift + </a:t>
            </a:r>
            <a:r>
              <a:rPr lang="en"/>
              <a:t>Right click</a:t>
            </a:r>
            <a:r>
              <a:rPr lang="en"/>
              <a:t> on gutter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1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6594" l="-9198" r="-9186" t="53"/>
          <a:stretch/>
        </p:blipFill>
        <p:spPr>
          <a:xfrm>
            <a:off x="1097000" y="3044950"/>
            <a:ext cx="22236293" cy="9479301"/>
          </a:xfrm>
          <a:prstGeom prst="rect">
            <a:avLst/>
          </a:prstGeom>
        </p:spPr>
      </p:pic>
      <p:sp>
        <p:nvSpPr>
          <p:cNvPr id="1031" name="Google Shape;1031;p155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Breakpoint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55"/>
          <p:cNvSpPr txBox="1"/>
          <p:nvPr>
            <p:ph idx="4294967295" type="body"/>
          </p:nvPr>
        </p:nvSpPr>
        <p:spPr>
          <a:xfrm>
            <a:off x="5433939" y="11942075"/>
            <a:ext cx="13562400" cy="787500"/>
          </a:xfrm>
          <a:prstGeom prst="rect">
            <a:avLst/>
          </a:prstGeom>
        </p:spPr>
        <p:txBody>
          <a:bodyPr anchorCtr="0" anchor="ctr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Shift + Right click on gutter</a:t>
            </a:r>
            <a:endParaRPr/>
          </a:p>
        </p:txBody>
      </p:sp>
      <p:sp>
        <p:nvSpPr>
          <p:cNvPr id="1033" name="Google Shape;1033;p155"/>
          <p:cNvSpPr/>
          <p:nvPr/>
        </p:nvSpPr>
        <p:spPr>
          <a:xfrm>
            <a:off x="3677100" y="7952275"/>
            <a:ext cx="10677000" cy="1838700"/>
          </a:xfrm>
          <a:prstGeom prst="rect">
            <a:avLst/>
          </a:prstGeom>
          <a:noFill/>
          <a:ln cap="flat" cmpd="sng" w="381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1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26216" l="-87386" r="-87414" t="-17276"/>
          <a:stretch/>
        </p:blipFill>
        <p:spPr>
          <a:xfrm>
            <a:off x="1097000" y="3044950"/>
            <a:ext cx="22236292" cy="9479300"/>
          </a:xfrm>
          <a:prstGeom prst="rect">
            <a:avLst/>
          </a:prstGeom>
        </p:spPr>
      </p:pic>
      <p:sp>
        <p:nvSpPr>
          <p:cNvPr id="1039" name="Google Shape;1039;p156"/>
          <p:cNvSpPr txBox="1"/>
          <p:nvPr>
            <p:ph type="title"/>
          </p:nvPr>
        </p:nvSpPr>
        <p:spPr>
          <a:xfrm>
            <a:off x="1096992" y="768100"/>
            <a:ext cx="22184100" cy="28275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Breakpoint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56"/>
          <p:cNvSpPr/>
          <p:nvPr/>
        </p:nvSpPr>
        <p:spPr>
          <a:xfrm>
            <a:off x="8261300" y="7488925"/>
            <a:ext cx="7905600" cy="1748100"/>
          </a:xfrm>
          <a:prstGeom prst="rect">
            <a:avLst/>
          </a:prstGeom>
          <a:noFill/>
          <a:ln cap="flat" cmpd="sng" w="76200">
            <a:solidFill>
              <a:srgbClr val="FF31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57"/>
          <p:cNvSpPr txBox="1"/>
          <p:nvPr>
            <p:ph type="title"/>
          </p:nvPr>
        </p:nvSpPr>
        <p:spPr>
          <a:xfrm>
            <a:off x="1096992" y="3730764"/>
            <a:ext cx="18399000" cy="5072100"/>
          </a:xfrm>
          <a:prstGeom prst="rect">
            <a:avLst/>
          </a:prstGeom>
        </p:spPr>
        <p:txBody>
          <a:bodyPr anchorCtr="0" anchor="b" bIns="26815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46" name="Google Shape;1046;p157"/>
          <p:cNvSpPr txBox="1"/>
          <p:nvPr>
            <p:ph idx="1" type="body"/>
          </p:nvPr>
        </p:nvSpPr>
        <p:spPr>
          <a:xfrm>
            <a:off x="1096998" y="9436600"/>
            <a:ext cx="11240100" cy="17136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Dmitry Pogrebnoy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/>
              <a:t>Connect me at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linkedin.com/in/dmitrypogrebnoy</a:t>
            </a:r>
            <a:endParaRPr/>
          </a:p>
        </p:txBody>
      </p:sp>
      <p:pic>
        <p:nvPicPr>
          <p:cNvPr id="1047" name="Google Shape;1047;p157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3540" r="3540" t="0"/>
          <a:stretch/>
        </p:blipFill>
        <p:spPr>
          <a:xfrm>
            <a:off x="14760052" y="2009225"/>
            <a:ext cx="7069500" cy="76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57"/>
          <p:cNvSpPr txBox="1"/>
          <p:nvPr>
            <p:ph idx="4294967295" type="body"/>
          </p:nvPr>
        </p:nvSpPr>
        <p:spPr>
          <a:xfrm>
            <a:off x="14760052" y="9637217"/>
            <a:ext cx="7069500" cy="7875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Try RubyMine Debugger!</a:t>
            </a:r>
            <a:endParaRPr/>
          </a:p>
        </p:txBody>
      </p:sp>
      <p:sp>
        <p:nvSpPr>
          <p:cNvPr id="1049" name="Google Shape;1049;p157"/>
          <p:cNvSpPr/>
          <p:nvPr/>
        </p:nvSpPr>
        <p:spPr>
          <a:xfrm>
            <a:off x="17272175" y="4785175"/>
            <a:ext cx="2027100" cy="197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0" name="Google Shape;1050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8374" y="4886787"/>
            <a:ext cx="1852851" cy="185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58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56" name="Google Shape;1056;p158"/>
          <p:cNvSpPr txBox="1"/>
          <p:nvPr>
            <p:ph idx="4294967295" type="body"/>
          </p:nvPr>
        </p:nvSpPr>
        <p:spPr>
          <a:xfrm>
            <a:off x="2500125" y="10552175"/>
            <a:ext cx="7638300" cy="138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Try RubyMine Debugger</a:t>
            </a:r>
            <a:endParaRPr sz="45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4500"/>
              <a:t>with 30-days trial! </a:t>
            </a:r>
            <a:endParaRPr sz="4500"/>
          </a:p>
        </p:txBody>
      </p:sp>
      <p:pic>
        <p:nvPicPr>
          <p:cNvPr id="1057" name="Google Shape;1057;p15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3540" r="3540" t="0"/>
          <a:stretch/>
        </p:blipFill>
        <p:spPr>
          <a:xfrm>
            <a:off x="3074325" y="3371500"/>
            <a:ext cx="6489899" cy="69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58"/>
          <p:cNvSpPr/>
          <p:nvPr/>
        </p:nvSpPr>
        <p:spPr>
          <a:xfrm>
            <a:off x="5392875" y="5931600"/>
            <a:ext cx="1852800" cy="185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9" name="Google Shape;1059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2849" y="5937187"/>
            <a:ext cx="1852851" cy="18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58"/>
          <p:cNvSpPr txBox="1"/>
          <p:nvPr>
            <p:ph type="title"/>
          </p:nvPr>
        </p:nvSpPr>
        <p:spPr>
          <a:xfrm>
            <a:off x="1763000" y="3477475"/>
            <a:ext cx="49779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59"/>
          <p:cNvSpPr txBox="1"/>
          <p:nvPr>
            <p:ph type="title"/>
          </p:nvPr>
        </p:nvSpPr>
        <p:spPr>
          <a:xfrm>
            <a:off x="1097000" y="768098"/>
            <a:ext cx="222045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66" name="Google Shape;1066;p159"/>
          <p:cNvSpPr txBox="1"/>
          <p:nvPr>
            <p:ph idx="4294967295" type="body"/>
          </p:nvPr>
        </p:nvSpPr>
        <p:spPr>
          <a:xfrm>
            <a:off x="2500125" y="10552175"/>
            <a:ext cx="7638300" cy="13899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Try </a:t>
            </a:r>
            <a:r>
              <a:rPr lang="en" sz="4500"/>
              <a:t>RubyMine </a:t>
            </a:r>
            <a:r>
              <a:rPr lang="en" sz="4500"/>
              <a:t>Debugger</a:t>
            </a:r>
            <a:endParaRPr sz="45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4500"/>
              <a:t>with 30-days trial! </a:t>
            </a:r>
            <a:endParaRPr sz="4500"/>
          </a:p>
        </p:txBody>
      </p:sp>
      <p:pic>
        <p:nvPicPr>
          <p:cNvPr id="1067" name="Google Shape;1067;p15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3540" r="3540" t="0"/>
          <a:stretch/>
        </p:blipFill>
        <p:spPr>
          <a:xfrm>
            <a:off x="3074325" y="3371500"/>
            <a:ext cx="6489899" cy="69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159"/>
          <p:cNvSpPr/>
          <p:nvPr/>
        </p:nvSpPr>
        <p:spPr>
          <a:xfrm>
            <a:off x="5392875" y="5931600"/>
            <a:ext cx="1852800" cy="185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9" name="Google Shape;1069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2849" y="5937187"/>
            <a:ext cx="1852851" cy="18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59"/>
          <p:cNvSpPr txBox="1"/>
          <p:nvPr>
            <p:ph idx="4294967295" type="body"/>
          </p:nvPr>
        </p:nvSpPr>
        <p:spPr>
          <a:xfrm>
            <a:off x="14198400" y="10552175"/>
            <a:ext cx="7638300" cy="2209200"/>
          </a:xfrm>
          <a:prstGeom prst="rect">
            <a:avLst/>
          </a:prstGeom>
        </p:spPr>
        <p:txBody>
          <a:bodyPr anchorCtr="0" anchor="t" bIns="0" lIns="0" spcFirstLastPara="1" rIns="0" wrap="square" tIns="19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500"/>
              <a:t>Share your experience with me on LinkedIn!</a:t>
            </a:r>
            <a:endParaRPr sz="4500"/>
          </a:p>
        </p:txBody>
      </p:sp>
      <p:pic>
        <p:nvPicPr>
          <p:cNvPr id="1071" name="Google Shape;1071;p1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25425" y="3365875"/>
            <a:ext cx="6984251" cy="69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59"/>
          <p:cNvSpPr/>
          <p:nvPr/>
        </p:nvSpPr>
        <p:spPr>
          <a:xfrm>
            <a:off x="17091150" y="5981925"/>
            <a:ext cx="1852800" cy="17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3" name="Google Shape;1073;p1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02050" y="5842500"/>
            <a:ext cx="2031000" cy="203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4" name="Google Shape;1074;p159"/>
          <p:cNvSpPr txBox="1"/>
          <p:nvPr>
            <p:ph type="title"/>
          </p:nvPr>
        </p:nvSpPr>
        <p:spPr>
          <a:xfrm>
            <a:off x="1763000" y="3477475"/>
            <a:ext cx="49779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075" name="Google Shape;1075;p159"/>
          <p:cNvSpPr txBox="1"/>
          <p:nvPr>
            <p:ph type="title"/>
          </p:nvPr>
        </p:nvSpPr>
        <p:spPr>
          <a:xfrm>
            <a:off x="13193000" y="3493063"/>
            <a:ext cx="4977900" cy="1645800"/>
          </a:xfrm>
          <a:prstGeom prst="rect">
            <a:avLst/>
          </a:prstGeom>
        </p:spPr>
        <p:txBody>
          <a:bodyPr anchorCtr="0" anchor="t" bIns="243750" lIns="0" spcFirstLastPara="1" rIns="0" wrap="square" tIns="24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etBrains Presentation Light Template 2024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